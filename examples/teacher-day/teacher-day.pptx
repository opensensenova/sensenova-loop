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teacher-day-de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teacher-day-dec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f4b32e9170866a54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63ca195775e978b.pn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64c7fcec44176c7.png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83504931501bf77.png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a86c0cc379b75c5.png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fb18e49149a0874.png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8123d47056aced0.png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0aed8ee1c99e91a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3EEE3">
                  <a:alpha val="62000"/>
                </a:srgbClr>
              </a:gs>
              <a:gs pos="55000">
                <a:srgbClr val="F3EEE3">
                  <a:alpha val="10000"/>
                </a:srgbClr>
              </a:gs>
              <a:gs pos="100000">
                <a:srgbClr val="F3EEE3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895350" y="2069782"/>
            <a:ext cx="6694932" cy="1574483"/>
            <a:chOff x="895350" y="2069782"/>
            <a:chExt cx="6694932" cy="1574483"/>
          </a:xfrm>
        </p:grpSpPr>
        <p:sp>
          <p:nvSpPr>
            <p:cNvPr id="4" name="TextBox 4"/>
            <p:cNvSpPr txBox="1"/>
            <p:nvPr/>
          </p:nvSpPr>
          <p:spPr>
            <a:xfrm>
              <a:off x="944118" y="2069782"/>
              <a:ext cx="28043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450" dirty="0">
                  <a:solidFill>
                    <a:srgbClr val="B08D45"/>
                  </a:solidFill>
                  <a:latin typeface="楷体"/>
                  <a:ea typeface="KaiTi"/>
                  <a:cs typeface="楷体"/>
                </a:rPr>
                <a:t>三尺讲台 · 一脉师恩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95350" y="2425065"/>
              <a:ext cx="6694932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300" b="1" spc="450" dirty="0">
                  <a:solidFill>
                    <a:srgbClr val="23262C"/>
                  </a:solidFill>
                  <a:latin typeface="楷体"/>
                  <a:ea typeface="KaiTi"/>
                  <a:cs typeface="楷体"/>
                </a:rPr>
                <a:t>致敬爱的宋老师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41832" y="3545205"/>
            <a:ext cx="339242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spc="300" dirty="0">
                <a:solidFill>
                  <a:srgbClr val="2E3F52"/>
                </a:solidFill>
                <a:latin typeface="楷体"/>
                <a:ea typeface="KaiTi"/>
                <a:cs typeface="楷体"/>
              </a:rPr>
              <a:t>三尺讲台　育一城桃李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44118" y="5943600"/>
            <a:ext cx="2522982" cy="688848"/>
            <a:chOff x="944118" y="5943600"/>
            <a:chExt cx="2522982" cy="688848"/>
          </a:xfrm>
        </p:grpSpPr>
        <p:sp>
          <p:nvSpPr>
            <p:cNvPr id="8" name="Line 8"/>
            <p:cNvSpPr/>
            <p:nvPr/>
          </p:nvSpPr>
          <p:spPr>
            <a:xfrm>
              <a:off x="952500" y="594360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noFill/>
            <a:ln w="23812">
              <a:solidFill>
                <a:srgbClr val="B08D45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4118" y="6127432"/>
              <a:ext cx="127558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150" dirty="0">
                  <a:solidFill>
                    <a:srgbClr val="23262C"/>
                  </a:solidFill>
                  <a:latin typeface="楷体"/>
                  <a:ea typeface="KaiTi"/>
                  <a:cs typeface="楷体"/>
                </a:rPr>
                <a:t>您的学生们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3028950" y="6115050"/>
              <a:ext cx="438150" cy="517398"/>
              <a:chOff x="3028950" y="6115050"/>
              <a:chExt cx="438150" cy="517398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3028950" y="6115050"/>
                <a:ext cx="438150" cy="438150"/>
              </a:xfrm>
              <a:prstGeom prst="roundRect">
                <a:avLst>
                  <a:gd name="adj" fmla="val 8696"/>
                </a:avLst>
              </a:prstGeom>
              <a:solidFill>
                <a:srgbClr val="A8442E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3088005" y="6221730"/>
                <a:ext cx="32004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3EEE3"/>
                    </a:solidFill>
                    <a:latin typeface="楷体"/>
                    <a:ea typeface="KaiTi"/>
                    <a:cs typeface="楷体"/>
                  </a:rPr>
                  <a:t>敬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3EEE3">
                  <a:alpha val="55000"/>
                </a:srgbClr>
              </a:gs>
              <a:gs pos="50000">
                <a:srgbClr val="F3EEE3">
                  <a:alpha val="12000"/>
                </a:srgbClr>
              </a:gs>
              <a:gs pos="100000">
                <a:srgbClr val="F3EEE3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895350" y="1364932"/>
            <a:ext cx="5948172" cy="1280161"/>
            <a:chOff x="895350" y="1364932"/>
            <a:chExt cx="5948172" cy="1280161"/>
          </a:xfrm>
        </p:grpSpPr>
        <p:sp>
          <p:nvSpPr>
            <p:cNvPr id="4" name="TextBox 4"/>
            <p:cNvSpPr txBox="1"/>
            <p:nvPr/>
          </p:nvSpPr>
          <p:spPr>
            <a:xfrm>
              <a:off x="906018" y="1364932"/>
              <a:ext cx="16094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450" dirty="0">
                  <a:solidFill>
                    <a:srgbClr val="B08D45"/>
                  </a:solidFill>
                  <a:latin typeface="楷体"/>
                  <a:ea typeface="KaiTi"/>
                  <a:cs typeface="楷体"/>
                </a:rPr>
                <a:t>其一 · 晨课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95350" y="1797368"/>
              <a:ext cx="594817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spc="300" dirty="0">
                  <a:solidFill>
                    <a:srgbClr val="23262C"/>
                  </a:solidFill>
                  <a:latin typeface="楷体"/>
                  <a:ea typeface="KaiTi"/>
                  <a:cs typeface="楷体"/>
                </a:rPr>
                <a:t>晨读声里　飞鸟伴行</a:t>
              </a:r>
            </a:p>
          </p:txBody>
        </p:sp>
      </p:grpSp>
      <p:sp>
        <p:nvSpPr>
          <p:cNvPr id="7" name="Line 7"/>
          <p:cNvSpPr/>
          <p:nvPr/>
        </p:nvSpPr>
        <p:spPr>
          <a:xfrm>
            <a:off x="914400" y="2590800"/>
            <a:ext cx="1238250" cy="9525"/>
          </a:xfrm>
          <a:custGeom>
            <a:avLst/>
            <a:gdLst/>
            <a:ahLst/>
            <a:cxnLst/>
            <a:rect l="l" t="t" r="r" b="b"/>
            <a:pathLst>
              <a:path w="1238250" h="952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/>
          <a:ln w="23812">
            <a:solidFill>
              <a:srgbClr val="B08D45"/>
            </a:solidFill>
          </a:ln>
        </p:spPr>
      </p:sp>
      <p:grpSp>
        <p:nvGrpSpPr>
          <p:cNvPr id="13" name="Group 13"/>
          <p:cNvGrpSpPr/>
          <p:nvPr/>
        </p:nvGrpSpPr>
        <p:grpSpPr>
          <a:xfrm>
            <a:off x="906018" y="3117532"/>
            <a:ext cx="3441192" cy="1922907"/>
            <a:chOff x="906018" y="3117532"/>
            <a:chExt cx="3441192" cy="1922907"/>
          </a:xfrm>
        </p:grpSpPr>
        <p:sp>
          <p:nvSpPr>
            <p:cNvPr id="8" name="TextBox 8"/>
            <p:cNvSpPr txBox="1"/>
            <p:nvPr/>
          </p:nvSpPr>
          <p:spPr>
            <a:xfrm>
              <a:off x="906018" y="3117532"/>
              <a:ext cx="29504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75" dirty="0">
                  <a:solidFill>
                    <a:srgbClr val="2E3F52"/>
                  </a:solidFill>
                  <a:latin typeface="楷体"/>
                  <a:ea typeface="KaiTi"/>
                  <a:cs typeface="楷体"/>
                </a:rPr>
                <a:t>您总把第一节课交给晨光，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6018" y="3517582"/>
              <a:ext cx="29504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75" dirty="0">
                  <a:solidFill>
                    <a:srgbClr val="2E3F52"/>
                  </a:solidFill>
                  <a:latin typeface="楷体"/>
                  <a:ea typeface="KaiTi"/>
                  <a:cs typeface="楷体"/>
                </a:rPr>
                <a:t>一句句讲解，一笔笔板书，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6018" y="3917632"/>
              <a:ext cx="34411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75" dirty="0">
                  <a:solidFill>
                    <a:srgbClr val="2E3F52"/>
                  </a:solidFill>
                  <a:latin typeface="楷体"/>
                  <a:ea typeface="KaiTi"/>
                  <a:cs typeface="楷体"/>
                </a:rPr>
                <a:t>把知识点成我们记不住的清晨。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6018" y="4317682"/>
              <a:ext cx="2705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75" dirty="0">
                  <a:solidFill>
                    <a:srgbClr val="2E3F52"/>
                  </a:solidFill>
                  <a:latin typeface="楷体"/>
                  <a:ea typeface="KaiTi"/>
                  <a:cs typeface="楷体"/>
                </a:rPr>
                <a:t>黑板上飞过的每一只鸟，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6018" y="4717732"/>
              <a:ext cx="2705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75" dirty="0">
                  <a:solidFill>
                    <a:srgbClr val="2E3F52"/>
                  </a:solidFill>
                  <a:latin typeface="楷体"/>
                  <a:ea typeface="KaiTi"/>
                  <a:cs typeface="楷体"/>
                </a:rPr>
                <a:t>都是您眼里不灭的期待。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143585" y="6431756"/>
            <a:ext cx="6731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120" spc="150" dirty="0">
                <a:solidFill>
                  <a:srgbClr val="6E8299"/>
                </a:solidFill>
                <a:latin typeface="楷体"/>
                <a:ea typeface="楷体"/>
                <a:cs typeface="楷体"/>
              </a:rPr>
              <a:t>02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3EEE3">
                  <a:alpha val="50000"/>
                </a:srgbClr>
              </a:gs>
              <a:gs pos="55000">
                <a:srgbClr val="F3EEE3">
                  <a:alpha val="10000"/>
                </a:srgbClr>
              </a:gs>
              <a:gs pos="100000">
                <a:srgbClr val="F3EEE3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444746" y="1364932"/>
            <a:ext cx="3302508" cy="1280161"/>
            <a:chOff x="4444746" y="1364932"/>
            <a:chExt cx="3302508" cy="1280161"/>
          </a:xfrm>
        </p:grpSpPr>
        <p:sp>
          <p:nvSpPr>
            <p:cNvPr id="4" name="TextBox 4"/>
            <p:cNvSpPr txBox="1"/>
            <p:nvPr/>
          </p:nvSpPr>
          <p:spPr>
            <a:xfrm>
              <a:off x="5291252" y="1364932"/>
              <a:ext cx="16094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spc="450" dirty="0">
                  <a:solidFill>
                    <a:srgbClr val="B08D45"/>
                  </a:solidFill>
                  <a:latin typeface="楷体"/>
                  <a:ea typeface="KaiTi"/>
                  <a:cs typeface="楷体"/>
                </a:rPr>
                <a:t>其二 · 批改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444746" y="1797368"/>
              <a:ext cx="330250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350" b="1" spc="300" dirty="0">
                  <a:solidFill>
                    <a:srgbClr val="23262C"/>
                  </a:solidFill>
                  <a:latin typeface="楷体"/>
                  <a:ea typeface="KaiTi"/>
                  <a:cs typeface="楷体"/>
                </a:rPr>
                <a:t>批注与书页</a:t>
              </a:r>
            </a:p>
          </p:txBody>
        </p:sp>
      </p:grpSp>
      <p:sp>
        <p:nvSpPr>
          <p:cNvPr id="7" name="Line 7"/>
          <p:cNvSpPr/>
          <p:nvPr/>
        </p:nvSpPr>
        <p:spPr>
          <a:xfrm>
            <a:off x="5810250" y="2590800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23812">
            <a:solidFill>
              <a:srgbClr val="B08D45"/>
            </a:solidFill>
          </a:ln>
        </p:spPr>
      </p:sp>
      <p:grpSp>
        <p:nvGrpSpPr>
          <p:cNvPr id="12" name="Group 12"/>
          <p:cNvGrpSpPr/>
          <p:nvPr/>
        </p:nvGrpSpPr>
        <p:grpSpPr>
          <a:xfrm>
            <a:off x="4252722" y="3155632"/>
            <a:ext cx="3686556" cy="1522857"/>
            <a:chOff x="4252722" y="3155632"/>
            <a:chExt cx="3686556" cy="1522857"/>
          </a:xfrm>
        </p:grpSpPr>
        <p:sp>
          <p:nvSpPr>
            <p:cNvPr id="8" name="TextBox 8"/>
            <p:cNvSpPr txBox="1"/>
            <p:nvPr/>
          </p:nvSpPr>
          <p:spPr>
            <a:xfrm>
              <a:off x="4498086" y="3155632"/>
              <a:ext cx="31958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spc="75" dirty="0">
                  <a:solidFill>
                    <a:srgbClr val="2E3F52"/>
                  </a:solidFill>
                  <a:latin typeface="楷体"/>
                  <a:ea typeface="KaiTi"/>
                  <a:cs typeface="楷体"/>
                </a:rPr>
                <a:t>一本本作业，您都认真读过，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252722" y="3555682"/>
              <a:ext cx="36865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spc="75" dirty="0">
                  <a:solidFill>
                    <a:srgbClr val="2E3F52"/>
                  </a:solidFill>
                  <a:latin typeface="楷体"/>
                  <a:ea typeface="KaiTi"/>
                  <a:cs typeface="楷体"/>
                </a:rPr>
                <a:t>每一处对错，都留下温柔的批注，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98086" y="3955732"/>
              <a:ext cx="31958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spc="75" dirty="0">
                  <a:solidFill>
                    <a:srgbClr val="2E3F52"/>
                  </a:solidFill>
                  <a:latin typeface="楷体"/>
                  <a:ea typeface="KaiTi"/>
                  <a:cs typeface="楷体"/>
                </a:rPr>
                <a:t>红笔里藏着鼓励，墨迹里写着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75404" y="4355782"/>
              <a:ext cx="34411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spc="75" dirty="0">
                  <a:solidFill>
                    <a:srgbClr val="2E3F52"/>
                  </a:solidFill>
                  <a:latin typeface="楷体"/>
                  <a:ea typeface="KaiTi"/>
                  <a:cs typeface="楷体"/>
                </a:rPr>
                <a:t>「你再努力一点，一定可以」。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143585" y="6431756"/>
            <a:ext cx="6731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120" spc="150" dirty="0">
                <a:solidFill>
                  <a:srgbClr val="6E8299"/>
                </a:solidFill>
                <a:latin typeface="楷体"/>
                <a:ea typeface="楷体"/>
                <a:cs typeface="楷体"/>
              </a:rPr>
              <a:t>03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3EEE3">
                  <a:alpha val="52000"/>
                </a:srgbClr>
              </a:gs>
              <a:gs pos="50000">
                <a:srgbClr val="F3EEE3">
                  <a:alpha val="10000"/>
                </a:srgbClr>
              </a:gs>
              <a:gs pos="100000">
                <a:srgbClr val="F3EEE3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895350" y="1250632"/>
            <a:ext cx="2555748" cy="1324928"/>
            <a:chOff x="895350" y="1250632"/>
            <a:chExt cx="2555748" cy="1324928"/>
          </a:xfrm>
        </p:grpSpPr>
        <p:sp>
          <p:nvSpPr>
            <p:cNvPr id="4" name="TextBox 4"/>
            <p:cNvSpPr txBox="1"/>
            <p:nvPr/>
          </p:nvSpPr>
          <p:spPr>
            <a:xfrm>
              <a:off x="906018" y="1250632"/>
              <a:ext cx="16094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450" dirty="0">
                  <a:solidFill>
                    <a:srgbClr val="B08D45"/>
                  </a:solidFill>
                  <a:latin typeface="楷体"/>
                  <a:ea typeface="KaiTi"/>
                  <a:cs typeface="楷体"/>
                </a:rPr>
                <a:t>其三 · 秋意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95350" y="1756410"/>
              <a:ext cx="255574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spc="300" dirty="0">
                  <a:solidFill>
                    <a:srgbClr val="23262C"/>
                  </a:solidFill>
                  <a:latin typeface="楷体"/>
                  <a:ea typeface="KaiTi"/>
                  <a:cs typeface="楷体"/>
                </a:rPr>
                <a:t>秋雨长廊</a:t>
              </a:r>
            </a:p>
          </p:txBody>
        </p:sp>
      </p:grpSp>
      <p:sp>
        <p:nvSpPr>
          <p:cNvPr id="7" name="Line 7"/>
          <p:cNvSpPr/>
          <p:nvPr/>
        </p:nvSpPr>
        <p:spPr>
          <a:xfrm>
            <a:off x="914400" y="251460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23812">
            <a:solidFill>
              <a:srgbClr val="B08D45"/>
            </a:solidFill>
          </a:ln>
        </p:spPr>
      </p:sp>
      <p:grpSp>
        <p:nvGrpSpPr>
          <p:cNvPr id="13" name="Group 13"/>
          <p:cNvGrpSpPr/>
          <p:nvPr/>
        </p:nvGrpSpPr>
        <p:grpSpPr>
          <a:xfrm>
            <a:off x="906018" y="3117532"/>
            <a:ext cx="3195828" cy="1922907"/>
            <a:chOff x="906018" y="3117532"/>
            <a:chExt cx="3195828" cy="1922907"/>
          </a:xfrm>
        </p:grpSpPr>
        <p:sp>
          <p:nvSpPr>
            <p:cNvPr id="8" name="TextBox 8"/>
            <p:cNvSpPr txBox="1"/>
            <p:nvPr/>
          </p:nvSpPr>
          <p:spPr>
            <a:xfrm>
              <a:off x="906018" y="3117532"/>
              <a:ext cx="24597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75" dirty="0">
                  <a:solidFill>
                    <a:srgbClr val="2E3F52"/>
                  </a:solidFill>
                  <a:latin typeface="楷体"/>
                  <a:ea typeface="KaiTi"/>
                  <a:cs typeface="楷体"/>
                </a:rPr>
                <a:t>秋雨穿过校园的长廊，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6018" y="3517582"/>
              <a:ext cx="29504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75" dirty="0">
                  <a:solidFill>
                    <a:srgbClr val="2E3F52"/>
                  </a:solidFill>
                  <a:latin typeface="楷体"/>
                  <a:ea typeface="KaiTi"/>
                  <a:cs typeface="楷体"/>
                </a:rPr>
                <a:t>您撑伞送我回家的那一次，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6018" y="3917632"/>
              <a:ext cx="31958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75" dirty="0">
                  <a:solidFill>
                    <a:srgbClr val="2E3F52"/>
                  </a:solidFill>
                  <a:latin typeface="楷体"/>
                  <a:ea typeface="KaiTi"/>
                  <a:cs typeface="楷体"/>
                </a:rPr>
                <a:t>把整个秋天的温柔都给了我。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6018" y="4317682"/>
              <a:ext cx="22143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75" dirty="0">
                  <a:solidFill>
                    <a:srgbClr val="2E3F52"/>
                  </a:solidFill>
                  <a:latin typeface="楷体"/>
                  <a:ea typeface="KaiTi"/>
                  <a:cs typeface="楷体"/>
                </a:rPr>
                <a:t>落叶再轻，也落不进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6018" y="4717732"/>
              <a:ext cx="22143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75" dirty="0">
                  <a:solidFill>
                    <a:srgbClr val="2E3F52"/>
                  </a:solidFill>
                  <a:latin typeface="楷体"/>
                  <a:ea typeface="KaiTi"/>
                  <a:cs typeface="楷体"/>
                </a:rPr>
                <a:t>您我心里那份安稳。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143585" y="6431756"/>
            <a:ext cx="6731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120" spc="150" dirty="0">
                <a:solidFill>
                  <a:srgbClr val="6E8299"/>
                </a:solidFill>
                <a:latin typeface="楷体"/>
                <a:ea typeface="楷体"/>
                <a:cs typeface="楷体"/>
              </a:rPr>
              <a:t>04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3EEE3">
                  <a:alpha val="45000"/>
                </a:srgbClr>
              </a:gs>
              <a:gs pos="55000">
                <a:srgbClr val="F3EEE3">
                  <a:alpha val="5000"/>
                </a:srgbClr>
              </a:gs>
              <a:gs pos="100000">
                <a:srgbClr val="F3EEE3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9890760" y="1250632"/>
            <a:ext cx="557022" cy="2365058"/>
            <a:chOff x="9890760" y="1250632"/>
            <a:chExt cx="557022" cy="2365058"/>
          </a:xfrm>
        </p:grpSpPr>
        <p:sp>
          <p:nvSpPr>
            <p:cNvPr id="4" name="TextBox 4"/>
            <p:cNvSpPr txBox="1"/>
            <p:nvPr/>
          </p:nvSpPr>
          <p:spPr>
            <a:xfrm>
              <a:off x="9897618" y="1250632"/>
              <a:ext cx="5501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450" dirty="0">
                  <a:solidFill>
                    <a:srgbClr val="B08D45"/>
                  </a:solidFill>
                  <a:latin typeface="楷体"/>
                  <a:ea typeface="KaiTi"/>
                  <a:cs typeface="楷体"/>
                </a:rPr>
                <a:t>其四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890760" y="1543050"/>
              <a:ext cx="4572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spc="450" dirty="0">
                  <a:solidFill>
                    <a:srgbClr val="23262C"/>
                  </a:solidFill>
                  <a:latin typeface="楷体"/>
                  <a:ea typeface="KaiTi"/>
                  <a:cs typeface="楷体"/>
                </a:rPr>
                <a:t>山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890760" y="2038350"/>
              <a:ext cx="4572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spc="450" dirty="0">
                  <a:solidFill>
                    <a:srgbClr val="23262C"/>
                  </a:solidFill>
                  <a:latin typeface="楷体"/>
                  <a:ea typeface="KaiTi"/>
                  <a:cs typeface="楷体"/>
                </a:rPr>
                <a:t>路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890760" y="2533650"/>
              <a:ext cx="4572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spc="450" dirty="0">
                  <a:solidFill>
                    <a:srgbClr val="23262C"/>
                  </a:solidFill>
                  <a:latin typeface="楷体"/>
                  <a:ea typeface="KaiTi"/>
                  <a:cs typeface="楷体"/>
                </a:rPr>
                <a:t>引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890760" y="3028950"/>
              <a:ext cx="4572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spc="450" dirty="0">
                  <a:solidFill>
                    <a:srgbClr val="23262C"/>
                  </a:solidFill>
                  <a:latin typeface="楷体"/>
                  <a:ea typeface="KaiTi"/>
                  <a:cs typeface="楷体"/>
                </a:rPr>
                <a:t>灯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38606" y="3139440"/>
            <a:ext cx="3932682" cy="2358199"/>
            <a:chOff x="1038606" y="3139440"/>
            <a:chExt cx="3932682" cy="2358199"/>
          </a:xfrm>
        </p:grpSpPr>
        <p:sp>
          <p:nvSpPr>
            <p:cNvPr id="10" name="TextBox 10"/>
            <p:cNvSpPr txBox="1"/>
            <p:nvPr/>
          </p:nvSpPr>
          <p:spPr>
            <a:xfrm>
              <a:off x="1038606" y="3139440"/>
              <a:ext cx="34747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spc="75" dirty="0">
                  <a:solidFill>
                    <a:srgbClr val="23262C"/>
                  </a:solidFill>
                  <a:latin typeface="楷体"/>
                  <a:ea typeface="KaiTi"/>
                  <a:cs typeface="楷体"/>
                </a:rPr>
                <a:t>山高路远　您为每个孩子引灯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1047750" y="36576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23812">
              <a:solidFill>
                <a:srgbClr val="B08D4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9368" y="3974782"/>
              <a:ext cx="29504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75" dirty="0">
                  <a:solidFill>
                    <a:srgbClr val="2E3F52"/>
                  </a:solidFill>
                  <a:latin typeface="楷体"/>
                  <a:ea typeface="KaiTi"/>
                  <a:cs typeface="楷体"/>
                </a:rPr>
                <a:t>求学的路，从来不是坦途，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9368" y="4374832"/>
              <a:ext cx="39319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75" dirty="0">
                  <a:solidFill>
                    <a:srgbClr val="2E3F52"/>
                  </a:solidFill>
                  <a:latin typeface="楷体"/>
                  <a:ea typeface="KaiTi"/>
                  <a:cs typeface="楷体"/>
                </a:rPr>
                <a:t>是您一盏灯，照亮我们犹豫的岔口；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9368" y="4774882"/>
              <a:ext cx="2705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75" dirty="0">
                  <a:solidFill>
                    <a:srgbClr val="2E3F52"/>
                  </a:solidFill>
                  <a:latin typeface="楷体"/>
                  <a:ea typeface="KaiTi"/>
                  <a:cs typeface="楷体"/>
                </a:rPr>
                <a:t>是您一句鼓励，让我们在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39368" y="5174932"/>
              <a:ext cx="34411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75" dirty="0">
                  <a:solidFill>
                    <a:srgbClr val="2E3F52"/>
                  </a:solidFill>
                  <a:latin typeface="楷体"/>
                  <a:ea typeface="KaiTi"/>
                  <a:cs typeface="楷体"/>
                </a:rPr>
                <a:t>漫长的山路里，敢继续往上走。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143585" y="6431756"/>
            <a:ext cx="6731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120" spc="150" dirty="0">
                <a:solidFill>
                  <a:srgbClr val="6E8299"/>
                </a:solidFill>
                <a:latin typeface="楷体"/>
                <a:ea typeface="楷体"/>
                <a:cs typeface="楷体"/>
              </a:rPr>
              <a:t>05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1A22">
                  <a:alpha val="66000"/>
                </a:srgbClr>
              </a:gs>
              <a:gs pos="50000">
                <a:srgbClr val="141A22">
                  <a:alpha val="20000"/>
                </a:srgbClr>
              </a:gs>
              <a:gs pos="100000">
                <a:srgbClr val="141A22">
                  <a:alpha val="0"/>
                </a:srgbClr>
              </a:gs>
            </a:gsLst>
            <a:lin ang="10800000" scaled="1"/>
          </a:gra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8512302" y="1364932"/>
            <a:ext cx="2555748" cy="1267778"/>
            <a:chOff x="8512302" y="1364932"/>
            <a:chExt cx="2555748" cy="1267778"/>
          </a:xfrm>
        </p:grpSpPr>
        <p:sp>
          <p:nvSpPr>
            <p:cNvPr id="4" name="TextBox 4"/>
            <p:cNvSpPr txBox="1"/>
            <p:nvPr/>
          </p:nvSpPr>
          <p:spPr>
            <a:xfrm>
              <a:off x="9447886" y="1364932"/>
              <a:ext cx="16094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spc="450" dirty="0">
                  <a:solidFill>
                    <a:srgbClr val="C9A24C"/>
                  </a:solidFill>
                  <a:latin typeface="楷体"/>
                  <a:ea typeface="KaiTi"/>
                  <a:cs typeface="楷体"/>
                </a:rPr>
                <a:t>其五 · 夜灯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512302" y="1813560"/>
              <a:ext cx="255574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200" b="1" spc="300" dirty="0">
                  <a:solidFill>
                    <a:srgbClr val="F3EEE3"/>
                  </a:solidFill>
                  <a:latin typeface="楷体"/>
                  <a:ea typeface="KaiTi"/>
                  <a:cs typeface="楷体"/>
                </a:rPr>
                <a:t>夜深未眠</a:t>
              </a:r>
            </a:p>
          </p:txBody>
        </p:sp>
      </p:grpSp>
      <p:sp>
        <p:nvSpPr>
          <p:cNvPr id="7" name="Line 7"/>
          <p:cNvSpPr/>
          <p:nvPr/>
        </p:nvSpPr>
        <p:spPr>
          <a:xfrm>
            <a:off x="10096500" y="259080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23812">
            <a:solidFill>
              <a:srgbClr val="C9A24C"/>
            </a:solidFill>
          </a:ln>
        </p:spPr>
      </p:sp>
      <p:grpSp>
        <p:nvGrpSpPr>
          <p:cNvPr id="13" name="Group 13"/>
          <p:cNvGrpSpPr/>
          <p:nvPr/>
        </p:nvGrpSpPr>
        <p:grpSpPr>
          <a:xfrm>
            <a:off x="6880098" y="3155632"/>
            <a:ext cx="4177284" cy="1922907"/>
            <a:chOff x="6880098" y="3155632"/>
            <a:chExt cx="4177284" cy="1922907"/>
          </a:xfrm>
        </p:grpSpPr>
        <p:sp>
          <p:nvSpPr>
            <p:cNvPr id="8" name="TextBox 8"/>
            <p:cNvSpPr txBox="1"/>
            <p:nvPr/>
          </p:nvSpPr>
          <p:spPr>
            <a:xfrm>
              <a:off x="6880098" y="3155632"/>
              <a:ext cx="41772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spc="75" dirty="0">
                  <a:solidFill>
                    <a:srgbClr val="E7E1D2"/>
                  </a:solidFill>
                  <a:latin typeface="楷体"/>
                  <a:ea typeface="KaiTi"/>
                  <a:cs typeface="楷体"/>
                </a:rPr>
                <a:t>放学后的教室，总是您最后一个离开，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16190" y="3555682"/>
              <a:ext cx="34411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spc="75" dirty="0">
                  <a:solidFill>
                    <a:srgbClr val="E7E1D2"/>
                  </a:solidFill>
                  <a:latin typeface="楷体"/>
                  <a:ea typeface="KaiTi"/>
                  <a:cs typeface="楷体"/>
                </a:rPr>
                <a:t>一盏台灯，照亮您弯下的脊背，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16190" y="3955732"/>
              <a:ext cx="34411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spc="75" dirty="0">
                  <a:solidFill>
                    <a:srgbClr val="E7E1D2"/>
                  </a:solidFill>
                  <a:latin typeface="楷体"/>
                  <a:ea typeface="KaiTi"/>
                  <a:cs typeface="楷体"/>
                </a:rPr>
                <a:t>也照亮我们不敢说出口的迷茫。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52282" y="4355782"/>
              <a:ext cx="2705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spc="75" dirty="0">
                  <a:solidFill>
                    <a:srgbClr val="E7E1D2"/>
                  </a:solidFill>
                  <a:latin typeface="楷体"/>
                  <a:ea typeface="KaiTi"/>
                  <a:cs typeface="楷体"/>
                </a:rPr>
                <a:t>那些深夜里答疑的身影，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597646" y="4755832"/>
              <a:ext cx="24597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spc="75" dirty="0">
                  <a:solidFill>
                    <a:srgbClr val="E7E1D2"/>
                  </a:solidFill>
                  <a:latin typeface="楷体"/>
                  <a:ea typeface="KaiTi"/>
                  <a:cs typeface="楷体"/>
                </a:rPr>
                <a:t>我们记了一整个青春。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143585" y="6431756"/>
            <a:ext cx="6731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120" spc="150" dirty="0">
                <a:solidFill>
                  <a:srgbClr val="9AA6B4"/>
                </a:solidFill>
                <a:latin typeface="楷体"/>
                <a:ea typeface="楷体"/>
                <a:cs typeface="楷体"/>
              </a:rPr>
              <a:t>06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3EEE3">
                  <a:alpha val="55000"/>
                </a:srgbClr>
              </a:gs>
              <a:gs pos="50000">
                <a:srgbClr val="F3EEE3">
                  <a:alpha val="12000"/>
                </a:srgbClr>
              </a:gs>
              <a:gs pos="100000">
                <a:srgbClr val="F3EEE3">
                  <a:alpha val="0"/>
                </a:srgbClr>
              </a:gs>
            </a:gsLst>
            <a:lin ang="10800000" scaled="1"/>
          </a:gra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8512302" y="1364932"/>
            <a:ext cx="2555748" cy="1267778"/>
            <a:chOff x="8512302" y="1364932"/>
            <a:chExt cx="2555748" cy="1267778"/>
          </a:xfrm>
        </p:grpSpPr>
        <p:sp>
          <p:nvSpPr>
            <p:cNvPr id="4" name="TextBox 4"/>
            <p:cNvSpPr txBox="1"/>
            <p:nvPr/>
          </p:nvSpPr>
          <p:spPr>
            <a:xfrm>
              <a:off x="9447886" y="1364932"/>
              <a:ext cx="16094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spc="450" dirty="0">
                  <a:solidFill>
                    <a:srgbClr val="B08D45"/>
                  </a:solidFill>
                  <a:latin typeface="楷体"/>
                  <a:ea typeface="KaiTi"/>
                  <a:cs typeface="楷体"/>
                </a:rPr>
                <a:t>其六 · 桃李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512302" y="1813560"/>
              <a:ext cx="255574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200" b="1" spc="300" dirty="0">
                  <a:solidFill>
                    <a:srgbClr val="23262C"/>
                  </a:solidFill>
                  <a:latin typeface="楷体"/>
                  <a:ea typeface="KaiTi"/>
                  <a:cs typeface="楷体"/>
                </a:rPr>
                <a:t>桃李花开</a:t>
              </a:r>
            </a:p>
          </p:txBody>
        </p:sp>
      </p:grpSp>
      <p:sp>
        <p:nvSpPr>
          <p:cNvPr id="7" name="Line 7"/>
          <p:cNvSpPr/>
          <p:nvPr/>
        </p:nvSpPr>
        <p:spPr>
          <a:xfrm>
            <a:off x="10096500" y="259080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23812">
            <a:solidFill>
              <a:srgbClr val="B08D45"/>
            </a:solidFill>
          </a:ln>
        </p:spPr>
      </p:sp>
      <p:grpSp>
        <p:nvGrpSpPr>
          <p:cNvPr id="13" name="Group 13"/>
          <p:cNvGrpSpPr/>
          <p:nvPr/>
        </p:nvGrpSpPr>
        <p:grpSpPr>
          <a:xfrm>
            <a:off x="7861554" y="3155632"/>
            <a:ext cx="3195828" cy="1922907"/>
            <a:chOff x="7861554" y="3155632"/>
            <a:chExt cx="3195828" cy="1922907"/>
          </a:xfrm>
        </p:grpSpPr>
        <p:sp>
          <p:nvSpPr>
            <p:cNvPr id="8" name="TextBox 8"/>
            <p:cNvSpPr txBox="1"/>
            <p:nvPr/>
          </p:nvSpPr>
          <p:spPr>
            <a:xfrm>
              <a:off x="9333738" y="3155632"/>
              <a:ext cx="17236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spc="75" dirty="0">
                  <a:solidFill>
                    <a:srgbClr val="2E3F52"/>
                  </a:solidFill>
                  <a:latin typeface="楷体"/>
                  <a:ea typeface="KaiTi"/>
                  <a:cs typeface="楷体"/>
                </a:rPr>
                <a:t>春风拂过校园，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06918" y="3555682"/>
              <a:ext cx="29504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spc="75" dirty="0">
                  <a:solidFill>
                    <a:srgbClr val="2E3F52"/>
                  </a:solidFill>
                  <a:latin typeface="楷体"/>
                  <a:ea typeface="KaiTi"/>
                  <a:cs typeface="楷体"/>
                </a:rPr>
                <a:t>桃李满园时，最该记得的，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861554" y="3955732"/>
              <a:ext cx="31958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spc="75" dirty="0">
                  <a:solidFill>
                    <a:srgbClr val="2E3F52"/>
                  </a:solidFill>
                  <a:latin typeface="楷体"/>
                  <a:ea typeface="KaiTi"/>
                  <a:cs typeface="楷体"/>
                </a:rPr>
                <a:t>是那个把种子埋进土里的人。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597646" y="4355782"/>
              <a:ext cx="24597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spc="75" dirty="0">
                  <a:solidFill>
                    <a:srgbClr val="2E3F52"/>
                  </a:solidFill>
                  <a:latin typeface="楷体"/>
                  <a:ea typeface="KaiTi"/>
                  <a:cs typeface="楷体"/>
                </a:rPr>
                <a:t>您种下的不只是知识，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06918" y="4755832"/>
              <a:ext cx="29504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spc="75" dirty="0">
                  <a:solidFill>
                    <a:srgbClr val="2E3F52"/>
                  </a:solidFill>
                  <a:latin typeface="楷体"/>
                  <a:ea typeface="KaiTi"/>
                  <a:cs typeface="楷体"/>
                </a:rPr>
                <a:t>还有让我们敢开花的勇气。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143585" y="6431756"/>
            <a:ext cx="6731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120" spc="150" dirty="0">
                <a:solidFill>
                  <a:srgbClr val="6E8299"/>
                </a:solidFill>
                <a:latin typeface="楷体"/>
                <a:ea typeface="楷体"/>
                <a:cs typeface="楷体"/>
              </a:rPr>
              <a:t>07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F3EEE3">
                    <a:alpha val="55000"/>
                  </a:srgbClr>
                </a:gs>
                <a:gs pos="55000">
                  <a:srgbClr val="F3EEE3">
                    <a:alpha val="8000"/>
                  </a:srgbClr>
                </a:gs>
                <a:gs pos="100000">
                  <a:srgbClr val="F3EEE3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3025902" y="1403032"/>
            <a:ext cx="6140196" cy="1368743"/>
            <a:chOff x="3025902" y="1403032"/>
            <a:chExt cx="6140196" cy="1368743"/>
          </a:xfrm>
        </p:grpSpPr>
        <p:sp>
          <p:nvSpPr>
            <p:cNvPr id="5" name="TextBox 5"/>
            <p:cNvSpPr txBox="1"/>
            <p:nvPr/>
          </p:nvSpPr>
          <p:spPr>
            <a:xfrm>
              <a:off x="4693844" y="1403032"/>
              <a:ext cx="28043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spc="450" dirty="0">
                  <a:solidFill>
                    <a:srgbClr val="B08D45"/>
                  </a:solidFill>
                  <a:latin typeface="楷体"/>
                  <a:ea typeface="KaiTi"/>
                  <a:cs typeface="楷体"/>
                </a:rPr>
                <a:t>山高水长 · 师恩难忘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025902" y="1895475"/>
              <a:ext cx="6140196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500" b="1" spc="300" dirty="0">
                  <a:solidFill>
                    <a:srgbClr val="23262C"/>
                  </a:solidFill>
                  <a:latin typeface="楷体"/>
                  <a:ea typeface="KaiTi"/>
                  <a:cs typeface="楷体"/>
                </a:rPr>
                <a:t>宋老师，教师节快乐</a:t>
              </a:r>
            </a:p>
          </p:txBody>
        </p:sp>
      </p:grpSp>
      <p:sp>
        <p:nvSpPr>
          <p:cNvPr id="8" name="Line 8"/>
          <p:cNvSpPr/>
          <p:nvPr/>
        </p:nvSpPr>
        <p:spPr>
          <a:xfrm>
            <a:off x="5334000" y="27622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23812">
            <a:solidFill>
              <a:srgbClr val="B08D45"/>
            </a:solidFill>
          </a:ln>
        </p:spPr>
      </p:sp>
      <p:grpSp>
        <p:nvGrpSpPr>
          <p:cNvPr id="11" name="Group 11"/>
          <p:cNvGrpSpPr/>
          <p:nvPr/>
        </p:nvGrpSpPr>
        <p:grpSpPr>
          <a:xfrm>
            <a:off x="4375404" y="3308032"/>
            <a:ext cx="3441192" cy="741807"/>
            <a:chOff x="4375404" y="3308032"/>
            <a:chExt cx="3441192" cy="741807"/>
          </a:xfrm>
        </p:grpSpPr>
        <p:sp>
          <p:nvSpPr>
            <p:cNvPr id="9" name="TextBox 9"/>
            <p:cNvSpPr txBox="1"/>
            <p:nvPr/>
          </p:nvSpPr>
          <p:spPr>
            <a:xfrm>
              <a:off x="5111496" y="3308032"/>
              <a:ext cx="19690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spc="75" dirty="0">
                  <a:solidFill>
                    <a:srgbClr val="2E3F52"/>
                  </a:solidFill>
                  <a:latin typeface="楷体"/>
                  <a:ea typeface="KaiTi"/>
                  <a:cs typeface="楷体"/>
                </a:rPr>
                <a:t>山为证，水为盟，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375404" y="3727132"/>
              <a:ext cx="34411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spc="75" dirty="0">
                  <a:solidFill>
                    <a:srgbClr val="2E3F52"/>
                  </a:solidFill>
                  <a:latin typeface="楷体"/>
                  <a:ea typeface="KaiTi"/>
                  <a:cs typeface="楷体"/>
                </a:rPr>
                <a:t>您教我们的，我们会一生记得。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118202" y="5482590"/>
            <a:ext cx="1955597" cy="889063"/>
            <a:chOff x="5118202" y="5482590"/>
            <a:chExt cx="1955597" cy="889063"/>
          </a:xfrm>
        </p:grpSpPr>
        <p:sp>
          <p:nvSpPr>
            <p:cNvPr id="12" name="TextBox 12"/>
            <p:cNvSpPr txBox="1"/>
            <p:nvPr/>
          </p:nvSpPr>
          <p:spPr>
            <a:xfrm>
              <a:off x="5118202" y="5482590"/>
              <a:ext cx="19555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spc="300" dirty="0">
                  <a:solidFill>
                    <a:srgbClr val="23262C"/>
                  </a:solidFill>
                  <a:latin typeface="楷体"/>
                  <a:ea typeface="KaiTi"/>
                  <a:cs typeface="楷体"/>
                </a:rPr>
                <a:t>—— 您的学生们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5886450" y="5886450"/>
              <a:ext cx="419100" cy="485203"/>
              <a:chOff x="5886450" y="5886450"/>
              <a:chExt cx="419100" cy="485203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5886450" y="5886450"/>
                <a:ext cx="419100" cy="419100"/>
              </a:xfrm>
              <a:prstGeom prst="roundRect">
                <a:avLst>
                  <a:gd name="adj" fmla="val 9091"/>
                </a:avLst>
              </a:prstGeom>
              <a:solidFill>
                <a:srgbClr val="A8442E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5947410" y="5990272"/>
                <a:ext cx="297180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b="1" dirty="0">
                    <a:solidFill>
                      <a:srgbClr val="F3EEE3"/>
                    </a:solidFill>
                    <a:latin typeface="楷体"/>
                    <a:ea typeface="KaiTi"/>
                    <a:cs typeface="楷体"/>
                  </a:rPr>
                  <a:t>恩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teacher-day-deck">
  <a:themeElements>
    <a:clrScheme name="teacher-day-deck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acher-day-deck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acher-day-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2026-10-29T08:20:24Z</dcterms:created>
  <dcterms:modified xsi:type="dcterms:W3CDTF">2026-10-29T08:20:24Z</dcterms:modified>
  <cp:category/>
  <cp:contentStatus/>
</cp:coreProperties>
</file>