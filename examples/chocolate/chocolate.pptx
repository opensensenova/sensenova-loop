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hocolate-cocoa-showca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hocolate-cocoa-showca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85ce2f4e9db798f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07029da87af17d8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07029da87af17d8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ee3d6edd8d539d5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5afceb004556596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92000"/>
                </a:schemeClr>
              </a:gs>
              <a:gs pos="45000">
                <a:schemeClr val="lt1">
                  <a:alpha val="55000"/>
                </a:schemeClr>
              </a:gs>
              <a:gs pos="100000">
                <a:schemeClr val="lt1">
                  <a:alpha val="0"/>
                </a:schemeClr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306232" y="38195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01 / 12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09600" y="2095500"/>
            <a:ext cx="5212080" cy="2286000"/>
            <a:chOff x="609600" y="2095500"/>
            <a:chExt cx="5212080" cy="2286000"/>
          </a:xfrm>
        </p:grpSpPr>
        <p:sp>
          <p:nvSpPr>
            <p:cNvPr id="5" name="Rectangle 5"/>
            <p:cNvSpPr/>
            <p:nvPr/>
          </p:nvSpPr>
          <p:spPr>
            <a:xfrm>
              <a:off x="609600" y="2095500"/>
              <a:ext cx="38100" cy="2286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2377440"/>
              <a:ext cx="4992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8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 PREMIUM FOOD EXHIBITION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9150" y="2815590"/>
              <a:ext cx="208635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巧克力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2960" y="36766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从可可果到风味地图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4965382"/>
            <a:ext cx="2793302" cy="322707"/>
            <a:chOff x="601218" y="4965382"/>
            <a:chExt cx="2793302" cy="322707"/>
          </a:xfrm>
        </p:grpSpPr>
        <p:sp>
          <p:nvSpPr>
            <p:cNvPr id="10" name="TextBox 10"/>
            <p:cNvSpPr txBox="1"/>
            <p:nvPr/>
          </p:nvSpPr>
          <p:spPr>
            <a:xfrm>
              <a:off x="601218" y="4965382"/>
              <a:ext cx="2793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一场关于可可的精品食品展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5619750"/>
            <a:ext cx="3371850" cy="342900"/>
            <a:chOff x="609600" y="5619750"/>
            <a:chExt cx="3371850" cy="342900"/>
          </a:xfrm>
        </p:grpSpPr>
        <p:sp>
          <p:nvSpPr>
            <p:cNvPr id="12" name="Rectangle 12"/>
            <p:cNvSpPr/>
            <p:nvPr/>
          </p:nvSpPr>
          <p:spPr>
            <a:xfrm>
              <a:off x="609600" y="56197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1598" y="57173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可可果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71650" y="56197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88261" y="57173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产地地图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33700" y="56197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50311" y="57173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风味地图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04647" y="6409849"/>
            <a:ext cx="41613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spc="75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Cacao · Origin · Terroir · Processing · Flavor · Tasting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02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1685849" cy="234696"/>
            <a:chOff x="603504" y="651510"/>
            <a:chExt cx="1685849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1685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1 · 起源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5003902" cy="739140"/>
            <a:chOff x="609600" y="857250"/>
            <a:chExt cx="5003902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47905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可可：被称为"神的食物"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1980" y="1838325"/>
            <a:ext cx="4963697" cy="2280476"/>
            <a:chOff x="601980" y="1838325"/>
            <a:chExt cx="4963697" cy="2280476"/>
          </a:xfrm>
        </p:grpSpPr>
        <p:sp>
          <p:nvSpPr>
            <p:cNvPr id="8" name="TextBox 8"/>
            <p:cNvSpPr txBox="1"/>
            <p:nvPr/>
          </p:nvSpPr>
          <p:spPr>
            <a:xfrm>
              <a:off x="601980" y="1838325"/>
              <a:ext cx="3777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学名 </a:t>
              </a:r>
              <a:r>
                <a:rPr lang="zh-Hans" sz="1500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Theobroma cacao</a:t>
              </a:r>
              <a:r>
                <a:rPr lang="zh-Han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，意为"神的食品"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647700" y="23907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23307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原产于南美洲，秘鲁、哥伦比亚、厄瓜多尔为古老产区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47700" y="27717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342" y="27117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可可是</a:t>
              </a:r>
              <a:r>
                <a:rPr lang="zh-Han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果实</a:t>
              </a:r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而非种子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47700" y="31527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342" y="3092768"/>
              <a:ext cx="2464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一个可可荚含约 </a:t>
              </a:r>
              <a:r>
                <a:rPr lang="zh-Han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20–35</a:t>
              </a:r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颗种子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47700" y="35337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1342" y="3473768"/>
              <a:ext cx="47343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每株可可树年产 </a:t>
              </a:r>
              <a:r>
                <a:rPr lang="zh-Han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100–200</a:t>
              </a:r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个果荚，但仅约 </a:t>
              </a:r>
              <a:r>
                <a:rPr lang="zh-Han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1/3</a:t>
              </a:r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可安全取豆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47700" y="39147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342" y="3854768"/>
              <a:ext cx="2579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现代商业种植 </a:t>
              </a:r>
              <a:r>
                <a:rPr lang="zh-Han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60%+</a:t>
              </a:r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集中在西非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609600" y="4476750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</a:path>
            </a:pathLst>
          </a:custGeom>
          <a:noFill/>
          <a:ln w="9525">
            <a:solidFill>
              <a:srgbClr val="4A2E1A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609600" y="4667250"/>
            <a:ext cx="5562600" cy="419100"/>
            <a:chOff x="609600" y="4667250"/>
            <a:chExt cx="5562600" cy="419100"/>
          </a:xfrm>
        </p:grpSpPr>
        <p:sp>
          <p:nvSpPr>
            <p:cNvPr id="21" name="Rectangle 21"/>
            <p:cNvSpPr/>
            <p:nvPr/>
          </p:nvSpPr>
          <p:spPr>
            <a:xfrm>
              <a:off x="609600" y="4667250"/>
              <a:ext cx="5562600" cy="419100"/>
            </a:xfrm>
            <a:prstGeom prst="roundRect">
              <a:avLst>
                <a:gd name="adj" fmla="val 13636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4667250"/>
              <a:ext cx="381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2104" y="479488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可可的旅程：从南美雨林到西非农田，一颗果实如何成为世界商品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67500" y="952500"/>
            <a:ext cx="4914900" cy="4953000"/>
            <a:chOff x="6667500" y="952500"/>
            <a:chExt cx="4914900" cy="4953000"/>
          </a:xfrm>
        </p:grpSpPr>
        <p:sp>
          <p:nvSpPr>
            <p:cNvPr id="25" name="Rectangle 25"/>
            <p:cNvSpPr/>
            <p:nvPr/>
          </p:nvSpPr>
          <p:spPr>
            <a:xfrm>
              <a:off x="6667500" y="952500"/>
              <a:ext cx="4914900" cy="4953000"/>
            </a:xfrm>
            <a:prstGeom prst="roundRect">
              <a:avLst>
                <a:gd name="adj" fmla="val 1550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0" y="952500"/>
              <a:ext cx="4914900" cy="3686175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6667500" y="4638675"/>
              <a:ext cx="4914900" cy="12668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1904" y="4823460"/>
              <a:ext cx="1433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Theobroma cacao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666" y="5125402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学名意为"神的食品"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2666" y="53921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原产南美，现商业种植集中于西非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4838" y="6475095"/>
            <a:ext cx="29521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数据来源：Kew Royal Botanic Gardens, ICCO, USDA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03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1931975" cy="234696"/>
            <a:chOff x="603504" y="651510"/>
            <a:chExt cx="1931975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19319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2 · 生物学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3230880" cy="739140"/>
            <a:chOff x="609600" y="857250"/>
            <a:chExt cx="3230880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3017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剖开一颗可可荚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714500"/>
            <a:ext cx="5143500" cy="4572000"/>
            <a:chOff x="609600" y="1714500"/>
            <a:chExt cx="5143500" cy="4572000"/>
          </a:xfrm>
        </p:grpSpPr>
        <p:sp>
          <p:nvSpPr>
            <p:cNvPr id="8" name="Rectangle 8"/>
            <p:cNvSpPr/>
            <p:nvPr/>
          </p:nvSpPr>
          <p:spPr>
            <a:xfrm>
              <a:off x="609600" y="1714500"/>
              <a:ext cx="5143500" cy="3619500"/>
            </a:xfrm>
            <a:prstGeom prst="roundRect">
              <a:avLst>
                <a:gd name="adj" fmla="val 2105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714500"/>
              <a:ext cx="5143500" cy="385762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" y="5572125"/>
              <a:ext cx="5143500" cy="7143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4385" y="5784056"/>
              <a:ext cx="1927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Cacao pod cross-section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766" y="6058852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外层果皮 → 乳白果浆 → 棕褐可可种子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0666" y="1814989"/>
            <a:ext cx="5491734" cy="3630072"/>
            <a:chOff x="6090666" y="1814989"/>
            <a:chExt cx="5491734" cy="3630072"/>
          </a:xfrm>
        </p:grpSpPr>
        <p:sp>
          <p:nvSpPr>
            <p:cNvPr id="14" name="Line 14"/>
            <p:cNvSpPr/>
            <p:nvPr/>
          </p:nvSpPr>
          <p:spPr>
            <a:xfrm>
              <a:off x="6096000" y="20002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629400" y="1962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94373" y="181498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外层果皮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5516" y="204882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绿色或棕色，保护内部结构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27622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629400" y="2724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4373" y="2576989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乳白色果浆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95516" y="281082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含糖分滋养种子，为发酵提供初始糖分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0" y="35242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629400" y="3486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4373" y="3338989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棕褐色可可种子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5516" y="3572828"/>
              <a:ext cx="1883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20–35颗，初始含水量50–60%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0" y="4095750"/>
              <a:ext cx="5486400" cy="762000"/>
            </a:xfrm>
            <a:prstGeom prst="roundRect">
              <a:avLst>
                <a:gd name="adj" fmla="val 7500"/>
              </a:avLst>
            </a:prstGeom>
            <a:solidFill>
              <a:schemeClr val="lt2">
                <a:alpha val="70000"/>
              </a:scheme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0" y="4095750"/>
              <a:ext cx="38100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5" y="42410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关键事实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0785" y="4450556"/>
              <a:ext cx="3660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可可是果实——种子被"包裹"在果浆中，才能成为巧克力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90666" y="5030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取出的种子初始含水量高达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90666" y="5239702"/>
              <a:ext cx="530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50–60%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2166" y="52397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，必须经发酵才能食用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04838" y="6475095"/>
            <a:ext cx="25673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数据来源：Kew Royal Botanic Gardens, USDA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04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178101" cy="234696"/>
            <a:chOff x="603504" y="651510"/>
            <a:chExt cx="2178101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178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2 · 产地地图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6035497" cy="739140"/>
            <a:chOff x="609600" y="857250"/>
            <a:chExt cx="6035497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582213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世界 57% 的可可来自两个国家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809750"/>
            <a:ext cx="6096000" cy="2667000"/>
            <a:chOff x="609600" y="1809750"/>
            <a:chExt cx="6096000" cy="2667000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6096000" cy="2667000"/>
            </a:xfrm>
            <a:prstGeom prst="roundRect">
              <a:avLst>
                <a:gd name="adj" fmla="val 2857"/>
              </a:avLst>
            </a:prstGeom>
            <a:solidFill>
              <a:schemeClr val="lt1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757047" y="1942624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全球可可产量分布（2024/25）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238250" y="2016125"/>
              <a:ext cx="920750" cy="777875"/>
            </a:xfrm>
            <a:custGeom>
              <a:avLst/>
              <a:gdLst/>
              <a:ahLst/>
              <a:cxnLst/>
              <a:rect l="l" t="t" r="r" b="b"/>
              <a:pathLst>
                <a:path w="920750" h="777875">
                  <a:moveTo>
                    <a:pt x="0" y="174625"/>
                  </a:moveTo>
                  <a:cubicBezTo>
                    <a:pt x="127000" y="47625"/>
                    <a:pt x="285750" y="0"/>
                    <a:pt x="476250" y="31750"/>
                  </a:cubicBezTo>
                  <a:cubicBezTo>
                    <a:pt x="666750" y="63500"/>
                    <a:pt x="793750" y="142875"/>
                    <a:pt x="857250" y="269875"/>
                  </a:cubicBezTo>
                  <a:cubicBezTo>
                    <a:pt x="920750" y="396875"/>
                    <a:pt x="904875" y="523875"/>
                    <a:pt x="809625" y="650875"/>
                  </a:cubicBezTo>
                  <a:cubicBezTo>
                    <a:pt x="714375" y="746125"/>
                    <a:pt x="603250" y="777875"/>
                    <a:pt x="476250" y="746125"/>
                  </a:cubicBezTo>
                  <a:cubicBezTo>
                    <a:pt x="349250" y="714375"/>
                    <a:pt x="238125" y="650875"/>
                    <a:pt x="142875" y="555625"/>
                  </a:cubicBezTo>
                  <a:cubicBezTo>
                    <a:pt x="47625" y="460375"/>
                    <a:pt x="0" y="333375"/>
                    <a:pt x="0" y="174625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rgbClr val="4A2E1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14500" y="2825750"/>
              <a:ext cx="603250" cy="1127125"/>
            </a:xfrm>
            <a:custGeom>
              <a:avLst/>
              <a:gdLst/>
              <a:ahLst/>
              <a:cxnLst/>
              <a:rect l="l" t="t" r="r" b="b"/>
              <a:pathLst>
                <a:path w="603250" h="1127125">
                  <a:moveTo>
                    <a:pt x="47625" y="127000"/>
                  </a:moveTo>
                  <a:cubicBezTo>
                    <a:pt x="142875" y="31750"/>
                    <a:pt x="254000" y="0"/>
                    <a:pt x="381000" y="31750"/>
                  </a:cubicBezTo>
                  <a:cubicBezTo>
                    <a:pt x="476250" y="95250"/>
                    <a:pt x="539750" y="190500"/>
                    <a:pt x="571500" y="317500"/>
                  </a:cubicBezTo>
                  <a:cubicBezTo>
                    <a:pt x="603250" y="508000"/>
                    <a:pt x="587375" y="698500"/>
                    <a:pt x="523875" y="889000"/>
                  </a:cubicBezTo>
                  <a:cubicBezTo>
                    <a:pt x="460375" y="1016000"/>
                    <a:pt x="381000" y="1095375"/>
                    <a:pt x="285750" y="1127125"/>
                  </a:cubicBezTo>
                  <a:cubicBezTo>
                    <a:pt x="190500" y="1095375"/>
                    <a:pt x="120650" y="1016000"/>
                    <a:pt x="76200" y="889000"/>
                  </a:cubicBezTo>
                  <a:cubicBezTo>
                    <a:pt x="25400" y="698500"/>
                    <a:pt x="0" y="508000"/>
                    <a:pt x="0" y="317500"/>
                  </a:cubicBezTo>
                  <a:cubicBezTo>
                    <a:pt x="0" y="190500"/>
                    <a:pt x="15875" y="127000"/>
                    <a:pt x="47625" y="12700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rgbClr val="4A2E1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71875" y="2016125"/>
              <a:ext cx="762000" cy="527050"/>
            </a:xfrm>
            <a:custGeom>
              <a:avLst/>
              <a:gdLst/>
              <a:ahLst/>
              <a:cxnLst/>
              <a:rect l="l" t="t" r="r" b="b"/>
              <a:pathLst>
                <a:path w="762000" h="527050">
                  <a:moveTo>
                    <a:pt x="47625" y="79375"/>
                  </a:moveTo>
                  <a:cubicBezTo>
                    <a:pt x="174625" y="15875"/>
                    <a:pt x="333375" y="0"/>
                    <a:pt x="523875" y="31750"/>
                  </a:cubicBezTo>
                  <a:cubicBezTo>
                    <a:pt x="650875" y="63500"/>
                    <a:pt x="730250" y="142875"/>
                    <a:pt x="762000" y="269875"/>
                  </a:cubicBezTo>
                  <a:cubicBezTo>
                    <a:pt x="730250" y="396875"/>
                    <a:pt x="650875" y="476250"/>
                    <a:pt x="523875" y="508000"/>
                  </a:cubicBezTo>
                  <a:cubicBezTo>
                    <a:pt x="396875" y="527050"/>
                    <a:pt x="269875" y="511175"/>
                    <a:pt x="142875" y="460375"/>
                  </a:cubicBezTo>
                  <a:cubicBezTo>
                    <a:pt x="47625" y="396875"/>
                    <a:pt x="0" y="317500"/>
                    <a:pt x="0" y="222250"/>
                  </a:cubicBezTo>
                  <a:cubicBezTo>
                    <a:pt x="0" y="127000"/>
                    <a:pt x="15875" y="79375"/>
                    <a:pt x="47625" y="79375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rgbClr val="4A2E1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86150" y="2540000"/>
              <a:ext cx="1117600" cy="1524000"/>
            </a:xfrm>
            <a:custGeom>
              <a:avLst/>
              <a:gdLst/>
              <a:ahLst/>
              <a:cxnLst/>
              <a:rect l="l" t="t" r="r" b="b"/>
              <a:pathLst>
                <a:path w="1117600" h="1524000">
                  <a:moveTo>
                    <a:pt x="133350" y="127000"/>
                  </a:moveTo>
                  <a:cubicBezTo>
                    <a:pt x="260350" y="31750"/>
                    <a:pt x="450850" y="0"/>
                    <a:pt x="704850" y="31750"/>
                  </a:cubicBezTo>
                  <a:cubicBezTo>
                    <a:pt x="895350" y="95250"/>
                    <a:pt x="1022350" y="222250"/>
                    <a:pt x="1085850" y="412750"/>
                  </a:cubicBezTo>
                  <a:cubicBezTo>
                    <a:pt x="1117600" y="603250"/>
                    <a:pt x="1101725" y="793750"/>
                    <a:pt x="1038225" y="984250"/>
                  </a:cubicBezTo>
                  <a:cubicBezTo>
                    <a:pt x="974725" y="1174750"/>
                    <a:pt x="879475" y="1333500"/>
                    <a:pt x="752475" y="1460500"/>
                  </a:cubicBezTo>
                  <a:cubicBezTo>
                    <a:pt x="625475" y="1524000"/>
                    <a:pt x="498475" y="1524000"/>
                    <a:pt x="371475" y="1460500"/>
                  </a:cubicBezTo>
                  <a:cubicBezTo>
                    <a:pt x="244475" y="1365250"/>
                    <a:pt x="149225" y="1238250"/>
                    <a:pt x="85725" y="1079500"/>
                  </a:cubicBezTo>
                  <a:cubicBezTo>
                    <a:pt x="22225" y="889000"/>
                    <a:pt x="0" y="698500"/>
                    <a:pt x="19050" y="508000"/>
                  </a:cubicBezTo>
                  <a:cubicBezTo>
                    <a:pt x="31750" y="349250"/>
                    <a:pt x="69850" y="222250"/>
                    <a:pt x="133350" y="12700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83000" y="3159125"/>
              <a:ext cx="635000" cy="555625"/>
            </a:xfrm>
            <a:custGeom>
              <a:avLst/>
              <a:gdLst/>
              <a:ahLst/>
              <a:cxnLst/>
              <a:rect l="l" t="t" r="r" b="b"/>
              <a:pathLst>
                <a:path w="635000" h="555625">
                  <a:moveTo>
                    <a:pt x="79375" y="79375"/>
                  </a:moveTo>
                  <a:cubicBezTo>
                    <a:pt x="206375" y="15875"/>
                    <a:pt x="349250" y="0"/>
                    <a:pt x="508000" y="31750"/>
                  </a:cubicBezTo>
                  <a:cubicBezTo>
                    <a:pt x="603250" y="95250"/>
                    <a:pt x="635000" y="190500"/>
                    <a:pt x="603250" y="317500"/>
                  </a:cubicBezTo>
                  <a:cubicBezTo>
                    <a:pt x="539750" y="444500"/>
                    <a:pt x="444500" y="523875"/>
                    <a:pt x="317500" y="555625"/>
                  </a:cubicBezTo>
                  <a:cubicBezTo>
                    <a:pt x="190500" y="542925"/>
                    <a:pt x="95250" y="479425"/>
                    <a:pt x="31750" y="365125"/>
                  </a:cubicBezTo>
                  <a:cubicBezTo>
                    <a:pt x="0" y="269875"/>
                    <a:pt x="15875" y="174625"/>
                    <a:pt x="79375" y="79375"/>
                  </a:cubicBez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57612" y="2931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西非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670425" y="2032000"/>
              <a:ext cx="1330325" cy="857250"/>
            </a:xfrm>
            <a:custGeom>
              <a:avLst/>
              <a:gdLst/>
              <a:ahLst/>
              <a:cxnLst/>
              <a:rect l="l" t="t" r="r" b="b"/>
              <a:pathLst>
                <a:path w="1330325" h="857250">
                  <a:moveTo>
                    <a:pt x="92075" y="63500"/>
                  </a:moveTo>
                  <a:cubicBezTo>
                    <a:pt x="346075" y="0"/>
                    <a:pt x="631825" y="0"/>
                    <a:pt x="949325" y="63500"/>
                  </a:cubicBezTo>
                  <a:cubicBezTo>
                    <a:pt x="1139825" y="127000"/>
                    <a:pt x="1266825" y="254000"/>
                    <a:pt x="1330325" y="444500"/>
                  </a:cubicBezTo>
                  <a:cubicBezTo>
                    <a:pt x="1298575" y="635000"/>
                    <a:pt x="1203325" y="762000"/>
                    <a:pt x="1044575" y="825500"/>
                  </a:cubicBezTo>
                  <a:cubicBezTo>
                    <a:pt x="854075" y="857250"/>
                    <a:pt x="663575" y="841375"/>
                    <a:pt x="473075" y="777875"/>
                  </a:cubicBezTo>
                  <a:cubicBezTo>
                    <a:pt x="282575" y="714375"/>
                    <a:pt x="139700" y="603250"/>
                    <a:pt x="44450" y="444500"/>
                  </a:cubicBezTo>
                  <a:cubicBezTo>
                    <a:pt x="0" y="317500"/>
                    <a:pt x="15875" y="190500"/>
                    <a:pt x="92075" y="6350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rgbClr val="4A2E1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238750" y="3397250"/>
              <a:ext cx="508000" cy="311150"/>
            </a:xfrm>
            <a:custGeom>
              <a:avLst/>
              <a:gdLst/>
              <a:ahLst/>
              <a:cxnLst/>
              <a:rect l="l" t="t" r="r" b="b"/>
              <a:pathLst>
                <a:path w="508000" h="311150">
                  <a:moveTo>
                    <a:pt x="0" y="31750"/>
                  </a:moveTo>
                  <a:cubicBezTo>
                    <a:pt x="127000" y="0"/>
                    <a:pt x="254000" y="0"/>
                    <a:pt x="381000" y="31750"/>
                  </a:cubicBezTo>
                  <a:cubicBezTo>
                    <a:pt x="476250" y="63500"/>
                    <a:pt x="508000" y="127000"/>
                    <a:pt x="476250" y="222250"/>
                  </a:cubicBezTo>
                  <a:cubicBezTo>
                    <a:pt x="412750" y="285750"/>
                    <a:pt x="317500" y="311150"/>
                    <a:pt x="190500" y="298450"/>
                  </a:cubicBezTo>
                  <a:cubicBezTo>
                    <a:pt x="95250" y="247650"/>
                    <a:pt x="31750" y="158750"/>
                    <a:pt x="0" y="3175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rgbClr val="4A2E1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38575" y="3267075"/>
              <a:ext cx="228600" cy="2286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895725" y="33242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819525" y="3343275"/>
              <a:ext cx="171450" cy="17145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857625" y="33813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943100" y="3276600"/>
              <a:ext cx="114300" cy="114300"/>
            </a:xfrm>
            <a:prstGeom prst="ellipse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476875" y="3476625"/>
              <a:ext cx="95250" cy="95250"/>
            </a:xfrm>
            <a:prstGeom prst="ellipse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866900" y="2295525"/>
              <a:ext cx="76200" cy="76200"/>
            </a:xfrm>
            <a:prstGeom prst="ellipse">
              <a:avLst/>
            </a:prstGeom>
            <a:solidFill>
              <a:srgbClr val="B8997A">
                <a:alpha val="50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009775" y="3105150"/>
              <a:ext cx="76200" cy="76200"/>
            </a:xfrm>
            <a:prstGeom prst="ellipse">
              <a:avLst/>
            </a:prstGeom>
            <a:solidFill>
              <a:srgbClr val="B8997A">
                <a:alpha val="5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14375" y="40481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1538" y="4046220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科特迪瓦 (38%)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047875" y="40481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05038" y="4046220"/>
              <a:ext cx="6456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加纳 (19%)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190875" y="4048125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48038" y="40462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厄瓜多尔等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58000" y="1809750"/>
            <a:ext cx="4724400" cy="2667000"/>
            <a:chOff x="6858000" y="1809750"/>
            <a:chExt cx="4724400" cy="2667000"/>
          </a:xfrm>
        </p:grpSpPr>
        <p:grpSp>
          <p:nvGrpSpPr>
            <p:cNvPr id="47" name="Group 47"/>
            <p:cNvGrpSpPr/>
            <p:nvPr/>
          </p:nvGrpSpPr>
          <p:grpSpPr>
            <a:xfrm>
              <a:off x="6858000" y="1809750"/>
              <a:ext cx="4724400" cy="2667000"/>
              <a:chOff x="6858000" y="1809750"/>
              <a:chExt cx="4724400" cy="2667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858000" y="1809750"/>
                <a:ext cx="4724400" cy="2667000"/>
              </a:xfrm>
              <a:prstGeom prst="roundRect">
                <a:avLst>
                  <a:gd name="adj" fmla="val 2857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114300" dist="38100" dir="5400000" algn="ctr" rotWithShape="0">
                  <a:srgbClr val="000000">
                    <a:alpha val="1875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005447" y="19426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980" dirty="0">
                    <a:solidFill>
                      <a:srgbClr val="B8997A"/>
                    </a:solidFill>
                    <a:latin typeface="+mn-lt"/>
                    <a:ea typeface="+mn-ea"/>
                    <a:cs typeface="+mn-cs"/>
                  </a:rPr>
                  <a:t>产量占比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05066" y="22869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科特迪瓦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10500" y="2266950"/>
                <a:ext cx="3048000" cy="209550"/>
              </a:xfrm>
              <a:prstGeom prst="roundRect">
                <a:avLst>
                  <a:gd name="adj" fmla="val 1363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929366" y="2306002"/>
                <a:ext cx="2852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38%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005066" y="26679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加纳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7810500" y="2647950"/>
                <a:ext cx="1524000" cy="209550"/>
              </a:xfrm>
              <a:prstGeom prst="roundRect">
                <a:avLst>
                  <a:gd name="adj" fmla="val 1363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405366" y="2687002"/>
                <a:ext cx="2852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005066" y="30489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其他主要产区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810500" y="3028950"/>
                <a:ext cx="2743200" cy="209550"/>
              </a:xfrm>
              <a:prstGeom prst="roundRect">
                <a:avLst>
                  <a:gd name="adj" fmla="val 13636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624566" y="3068002"/>
                <a:ext cx="3668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~34%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005066" y="34299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其余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810500" y="3409950"/>
                <a:ext cx="704850" cy="209550"/>
              </a:xfrm>
              <a:prstGeom prst="roundRect">
                <a:avLst>
                  <a:gd name="adj" fmla="val 13636"/>
                </a:avLst>
              </a:prstGeom>
              <a:solidFill>
                <a:srgbClr val="4A2E1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586216" y="344900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Hans" sz="1050" dirty="0">
                    <a:solidFill>
                      <a:srgbClr val="B8997A"/>
                    </a:solidFill>
                    <a:latin typeface="+mn-lt"/>
                    <a:ea typeface="+mn-ea"/>
                    <a:cs typeface="+mn-cs"/>
                  </a:rPr>
                  <a:t>~9%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609600" y="4762500"/>
            <a:ext cx="10972800" cy="1524000"/>
            <a:chOff x="609600" y="4762500"/>
            <a:chExt cx="10972800" cy="1524000"/>
          </a:xfrm>
        </p:grpSpPr>
        <p:sp>
          <p:nvSpPr>
            <p:cNvPr id="49" name="Rectangle 49"/>
            <p:cNvSpPr/>
            <p:nvPr/>
          </p:nvSpPr>
          <p:spPr>
            <a:xfrm>
              <a:off x="609600" y="4762500"/>
              <a:ext cx="10972800" cy="1524000"/>
            </a:xfrm>
            <a:prstGeom prst="roundRect">
              <a:avLst>
                <a:gd name="adj" fmla="val 5000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9600" y="4762500"/>
              <a:ext cx="38100" cy="152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9630" y="4933950"/>
              <a:ext cx="3944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产地 → 加工 → 消费：一场地理分离的旅程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19150" y="5391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03554" y="5347335"/>
              <a:ext cx="4648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产地在西非/中南美，消费在欧美、日韩 — 一颗可可豆要跨越大洲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19150" y="5724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3554" y="5680710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海拔、纬度、土壤（火山土）与发酵方式，共同塑造同一可可豆的不同风味指纹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819150" y="6057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3554" y="6014085"/>
              <a:ext cx="5189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这就是为什么"精品巧克力"越来越强调产地溯源（origin traceability）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04838" y="6475095"/>
            <a:ext cx="34549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数据来源：European Commission (Know4Pol), ICCO 2024/25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05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178101" cy="234696"/>
            <a:chOff x="603504" y="651510"/>
            <a:chExt cx="2178101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178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3 · 加工科学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6238189" cy="739140"/>
            <a:chOff x="609600" y="857250"/>
            <a:chExt cx="6238189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602482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发酵：5–7 天决定巧克力的一切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809750"/>
            <a:ext cx="4762500" cy="4476750"/>
            <a:chOff x="609600" y="1809750"/>
            <a:chExt cx="4762500" cy="4476750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4762500" cy="3524250"/>
            </a:xfrm>
            <a:prstGeom prst="roundRect">
              <a:avLst>
                <a:gd name="adj" fmla="val 2162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09750"/>
              <a:ext cx="4762500" cy="357187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" y="5381625"/>
              <a:ext cx="47625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4385" y="5545931"/>
              <a:ext cx="1958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Cacao bean fermentation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766" y="5811202"/>
              <a:ext cx="2624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木箱中堆积的可可豆，5–7天，45–50°C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605885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缺氧 + 自热 → 风味前体物质生成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0" y="1809750"/>
            <a:ext cx="5867400" cy="3546634"/>
            <a:chOff x="5715000" y="1809750"/>
            <a:chExt cx="5867400" cy="3546634"/>
          </a:xfrm>
        </p:grpSpPr>
        <p:sp>
          <p:nvSpPr>
            <p:cNvPr id="15" name="Rectangle 15"/>
            <p:cNvSpPr/>
            <p:nvPr/>
          </p:nvSpPr>
          <p:spPr>
            <a:xfrm>
              <a:off x="5715000" y="1809750"/>
              <a:ext cx="58674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1809750"/>
              <a:ext cx="38100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38266" y="1982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发酵时长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31408" y="2141220"/>
              <a:ext cx="10647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5–7 天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0" y="2714625"/>
              <a:ext cx="58674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0" y="2714625"/>
              <a:ext cx="38100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38266" y="2887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内部温度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31408" y="3046095"/>
              <a:ext cx="18306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45–50 °C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0" y="3619500"/>
              <a:ext cx="5867400" cy="1047750"/>
            </a:xfrm>
            <a:prstGeom prst="roundRect">
              <a:avLst>
                <a:gd name="adj" fmla="val 7273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0" y="3619500"/>
              <a:ext cx="38100" cy="1047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37504" y="3775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发生了什么？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7885" y="4050506"/>
              <a:ext cx="4172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缺氧 + 自热触发代谢，把 flavor precursors 转化为风味前体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37885" y="42981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果浆中的糖分是发酵的初始能量来源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0" y="4743450"/>
              <a:ext cx="5867400" cy="571500"/>
            </a:xfrm>
            <a:prstGeom prst="roundRect">
              <a:avLst>
                <a:gd name="adj" fmla="val 13333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15000" y="4743450"/>
              <a:ext cx="38100" cy="57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37885" y="4907756"/>
              <a:ext cx="8203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⚠ 发酵不足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37885" y="51363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即使后期工艺完美，也只能得到青涩苦涩味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609600" y="4762500"/>
            <a:ext cx="10972800" cy="1524000"/>
          </a:xfrm>
          <a:prstGeom prst="roundRect">
            <a:avLst>
              <a:gd name="adj" fmla="val 5000"/>
            </a:avLst>
          </a:prstGeom>
          <a:solidFill>
            <a:schemeClr val="lt2">
              <a:alpha val="50000"/>
            </a:scheme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09600" y="4762500"/>
            <a:ext cx="38100" cy="15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9630" y="4933950"/>
            <a:ext cx="15087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5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紧接其后：干燥</a:t>
            </a:r>
          </a:p>
        </p:txBody>
      </p:sp>
      <p:sp>
        <p:nvSpPr>
          <p:cNvPr id="36" name="Ellipse 36"/>
          <p:cNvSpPr/>
          <p:nvPr/>
        </p:nvSpPr>
        <p:spPr>
          <a:xfrm>
            <a:off x="819150" y="5391150"/>
            <a:ext cx="76200" cy="76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03554" y="5347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将含水量从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03554" y="5566410"/>
            <a:ext cx="6058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50–60%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03654" y="5566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降到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79904" y="5566410"/>
            <a:ext cx="419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6–8%</a:t>
            </a:r>
          </a:p>
        </p:txBody>
      </p:sp>
      <p:sp>
        <p:nvSpPr>
          <p:cNvPr id="41" name="Ellipse 41"/>
          <p:cNvSpPr/>
          <p:nvPr/>
        </p:nvSpPr>
        <p:spPr>
          <a:xfrm>
            <a:off x="819150" y="5962650"/>
            <a:ext cx="76200" cy="76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03554" y="5918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防止霉变与黄曲霉毒素风险；干燥过慢会带出发酵不良的酸腐味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4838" y="6475095"/>
            <a:ext cx="2058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数据来源：Puratos, Coforge, USDA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06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178101" cy="234696"/>
            <a:chOff x="603504" y="651510"/>
            <a:chExt cx="2178101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178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3 · 加工科学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3657600" cy="739140"/>
            <a:chOff x="609600" y="857250"/>
            <a:chExt cx="3657600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破碎、研磨，成膏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1905000"/>
            <a:ext cx="10096500" cy="1714500"/>
            <a:chOff x="609600" y="1905000"/>
            <a:chExt cx="10096500" cy="1714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71450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609600" y="1905000"/>
              <a:ext cx="17145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38690" y="2180749"/>
              <a:ext cx="4563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5944" y="24260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破碎去壳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960" y="2676049"/>
              <a:ext cx="6537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Winnowing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2953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吹去豆衣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766" y="31632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与碎仁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766" y="337280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纯净可可仁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381250" y="270510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57150"/>
                  </a:moveTo>
                  <a:lnTo>
                    <a:pt x="190500" y="57150"/>
                  </a:lnTo>
                  <a:lnTo>
                    <a:pt x="133350" y="0"/>
                  </a:lnTo>
                  <a:moveTo>
                    <a:pt x="190500" y="57150"/>
                  </a:moveTo>
                  <a:lnTo>
                    <a:pt x="13335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705100" y="1905000"/>
              <a:ext cx="171450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18" name="Rectangle 18"/>
            <p:cNvSpPr/>
            <p:nvPr/>
          </p:nvSpPr>
          <p:spPr>
            <a:xfrm>
              <a:off x="2705100" y="1905000"/>
              <a:ext cx="17145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34190" y="2180749"/>
              <a:ext cx="4563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3468" y="242601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研磨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98318" y="2676049"/>
              <a:ext cx="528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Grinding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90266" y="2953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可可脂与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90266" y="3163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可可固形物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90266" y="33728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乳化在一起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476750" y="270510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57150"/>
                  </a:moveTo>
                  <a:lnTo>
                    <a:pt x="190500" y="57150"/>
                  </a:lnTo>
                  <a:lnTo>
                    <a:pt x="133350" y="0"/>
                  </a:lnTo>
                  <a:moveTo>
                    <a:pt x="190500" y="57150"/>
                  </a:moveTo>
                  <a:lnTo>
                    <a:pt x="13335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00600" y="1905000"/>
              <a:ext cx="171450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4800600" y="1905000"/>
              <a:ext cx="17145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29690" y="2180749"/>
              <a:ext cx="4563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STEP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6944" y="24260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可可液块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46377" y="2676049"/>
              <a:ext cx="822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Cocoa Liquor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85766" y="2953702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= 可可脂 +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85766" y="3163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可可固形物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85766" y="3372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巧克力制作起点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572250" y="270510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57150"/>
                  </a:moveTo>
                  <a:lnTo>
                    <a:pt x="190500" y="57150"/>
                  </a:lnTo>
                  <a:lnTo>
                    <a:pt x="133350" y="0"/>
                  </a:lnTo>
                  <a:moveTo>
                    <a:pt x="190500" y="57150"/>
                  </a:moveTo>
                  <a:lnTo>
                    <a:pt x="13335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6100" y="1905000"/>
              <a:ext cx="171450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896100" y="1905000"/>
              <a:ext cx="1714500" cy="38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83340" y="2180749"/>
              <a:ext cx="940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STEP 4 (可选)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4468" y="242601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加碱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72710" y="2676049"/>
              <a:ext cx="561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Dutching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81266" y="29537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碳酸钾降低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81266" y="3163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酸度、稳定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81266" y="33728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颜色与风味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667750" y="2705100"/>
              <a:ext cx="190500" cy="114300"/>
            </a:xfrm>
            <a:custGeom>
              <a:avLst/>
              <a:gdLst/>
              <a:ahLst/>
              <a:cxnLst/>
              <a:rect l="l" t="t" r="r" b="b"/>
              <a:pathLst>
                <a:path w="190500" h="114300">
                  <a:moveTo>
                    <a:pt x="0" y="57150"/>
                  </a:moveTo>
                  <a:lnTo>
                    <a:pt x="190500" y="57150"/>
                  </a:lnTo>
                  <a:lnTo>
                    <a:pt x="133350" y="0"/>
                  </a:lnTo>
                  <a:moveTo>
                    <a:pt x="190500" y="57150"/>
                  </a:moveTo>
                  <a:lnTo>
                    <a:pt x="13335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91600" y="1905000"/>
              <a:ext cx="171450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45" name="Rectangle 45"/>
            <p:cNvSpPr/>
            <p:nvPr/>
          </p:nvSpPr>
          <p:spPr>
            <a:xfrm>
              <a:off x="8991600" y="1905000"/>
              <a:ext cx="17145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20690" y="2180749"/>
              <a:ext cx="4563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53956" y="242601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可可粉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07387" y="2676049"/>
              <a:ext cx="882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Cocoa Powder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76766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在此步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76766" y="31632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脱脂，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76766" y="33728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得到纯可可粉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4953000"/>
            <a:ext cx="10972800" cy="1333500"/>
            <a:chOff x="609600" y="4953000"/>
            <a:chExt cx="10972800" cy="1333500"/>
          </a:xfrm>
        </p:grpSpPr>
        <p:sp>
          <p:nvSpPr>
            <p:cNvPr id="53" name="Rectangle 53"/>
            <p:cNvSpPr/>
            <p:nvPr/>
          </p:nvSpPr>
          <p:spPr>
            <a:xfrm>
              <a:off x="609600" y="4953000"/>
              <a:ext cx="10972800" cy="1333500"/>
            </a:xfrm>
            <a:prstGeom prst="roundRect">
              <a:avLst>
                <a:gd name="adj" fmla="val 5714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9600" y="4953000"/>
              <a:ext cx="38100" cy="13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8868" y="5136832"/>
              <a:ext cx="31652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可可膏 = 可可脂 + 可可固形物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154" y="5509260"/>
              <a:ext cx="7313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研磨时，可可脂与可可固形物乳化在一起，形成稳定的液态"可可液块"——这是巧克力制作的真正起点。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1154" y="5833110"/>
              <a:ext cx="7032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加碱（Dutching）是可选工序：降低酸度、稳定颜色与风味；可可粉在此步脱脂，得到纯可可粉。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04838" y="6475095"/>
            <a:ext cx="14884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数据来源：Puratos, USDA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07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178101" cy="234696"/>
            <a:chOff x="603504" y="651510"/>
            <a:chExt cx="2178101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178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3 · 风味科学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3230880" cy="739140"/>
            <a:chOff x="609600" y="857250"/>
            <a:chExt cx="3230880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3017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风味从哪里来？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809750"/>
            <a:ext cx="10972800" cy="1238250"/>
            <a:chOff x="609600" y="1809750"/>
            <a:chExt cx="10972800" cy="1238250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10972800" cy="1238250"/>
            </a:xfrm>
            <a:prstGeom prst="roundRect">
              <a:avLst>
                <a:gd name="adj" fmla="val 6154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57250" y="2000250"/>
              <a:ext cx="3048000" cy="8572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81063" y="2161699"/>
              <a:ext cx="1400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FLAVOR PRECURSORS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3304" y="2382202"/>
              <a:ext cx="2335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多酚 · 可可碱 · 类胡萝卜素 · 氨基酸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48587" y="25807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（本身几乎无味）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000500" y="2371725"/>
              <a:ext cx="476250" cy="114300"/>
            </a:xfrm>
            <a:custGeom>
              <a:avLst/>
              <a:gdLst/>
              <a:ahLst/>
              <a:cxnLst/>
              <a:rect l="l" t="t" r="r" b="b"/>
              <a:pathLst>
                <a:path w="476250" h="114300">
                  <a:moveTo>
                    <a:pt x="0" y="57150"/>
                  </a:moveTo>
                  <a:lnTo>
                    <a:pt x="476250" y="57150"/>
                  </a:lnTo>
                  <a:lnTo>
                    <a:pt x="419100" y="0"/>
                  </a:lnTo>
                  <a:moveTo>
                    <a:pt x="476250" y="57150"/>
                  </a:moveTo>
                  <a:lnTo>
                    <a:pt x="419100" y="1143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01744" y="22188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发酵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0" y="2000250"/>
              <a:ext cx="1905000" cy="8572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025565" y="2161699"/>
              <a:ext cx="9978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FERMENTATION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47895" y="2382202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5–7天 · 45–50°C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7484" y="2580799"/>
              <a:ext cx="87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（缺氧+自热）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572250" y="2371725"/>
              <a:ext cx="476250" cy="114300"/>
            </a:xfrm>
            <a:custGeom>
              <a:avLst/>
              <a:gdLst/>
              <a:ahLst/>
              <a:cxnLst/>
              <a:rect l="l" t="t" r="r" b="b"/>
              <a:pathLst>
                <a:path w="476250" h="114300">
                  <a:moveTo>
                    <a:pt x="0" y="57150"/>
                  </a:moveTo>
                  <a:lnTo>
                    <a:pt x="476250" y="57150"/>
                  </a:lnTo>
                  <a:lnTo>
                    <a:pt x="419100" y="0"/>
                  </a:lnTo>
                  <a:moveTo>
                    <a:pt x="476250" y="57150"/>
                  </a:moveTo>
                  <a:lnTo>
                    <a:pt x="419100" y="1143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0" y="2000250"/>
              <a:ext cx="2667000" cy="8572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25836" y="2161699"/>
              <a:ext cx="15028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VOLATILE COMPOUNDS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5837" y="23822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游离挥发性风味物质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12659" y="25807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（真正带味道的部分）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9906000" y="2371725"/>
              <a:ext cx="476250" cy="114300"/>
            </a:xfrm>
            <a:custGeom>
              <a:avLst/>
              <a:gdLst/>
              <a:ahLst/>
              <a:cxnLst/>
              <a:rect l="l" t="t" r="r" b="b"/>
              <a:pathLst>
                <a:path w="476250" h="114300">
                  <a:moveTo>
                    <a:pt x="0" y="57150"/>
                  </a:moveTo>
                  <a:lnTo>
                    <a:pt x="476250" y="57150"/>
                  </a:lnTo>
                  <a:lnTo>
                    <a:pt x="419100" y="0"/>
                  </a:lnTo>
                  <a:moveTo>
                    <a:pt x="476250" y="57150"/>
                  </a:moveTo>
                  <a:lnTo>
                    <a:pt x="419100" y="11430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477500" y="2000250"/>
              <a:ext cx="762000" cy="857250"/>
            </a:xfrm>
            <a:prstGeom prst="roundRect">
              <a:avLst>
                <a:gd name="adj" fmla="val 75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7408" y="2161699"/>
              <a:ext cx="5221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FLAVOR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21619" y="2390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果酸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21619" y="25807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花香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333750"/>
            <a:ext cx="10972800" cy="2095500"/>
            <a:chOff x="609600" y="3333750"/>
            <a:chExt cx="10972800" cy="2095500"/>
          </a:xfrm>
        </p:grpSpPr>
        <p:sp>
          <p:nvSpPr>
            <p:cNvPr id="30" name="Rectangle 30"/>
            <p:cNvSpPr/>
            <p:nvPr/>
          </p:nvSpPr>
          <p:spPr>
            <a:xfrm>
              <a:off x="609600" y="3333750"/>
              <a:ext cx="10972800" cy="209550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757047" y="3495199"/>
              <a:ext cx="134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风味前体 → 转化后风味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3714750"/>
              <a:ext cx="3429000" cy="3429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86250" y="3714750"/>
              <a:ext cx="3429000" cy="3429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0" y="3714750"/>
              <a:ext cx="3619500" cy="3429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188464" y="3830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风味前体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12714" y="3830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转化过程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32214" y="3830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风味结果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" y="4057650"/>
              <a:ext cx="106680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7166" y="41633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多酚 (flavonoids)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71416" y="4163378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发酵 → 挥发性酯类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5666" y="41633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果酸、花香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2000" y="4381500"/>
              <a:ext cx="106680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7166" y="4487228"/>
              <a:ext cx="1480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可可碱 (theobromine)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71416" y="4487228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发酵降解 → 生物碱挥发物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95666" y="44872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坚果、烘烤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705350"/>
              <a:ext cx="106680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7166" y="48110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类胡萝卜素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71416" y="4811078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氧化降解 → 醛类/酮类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5666" y="4811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焦糖、太妃糖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000" y="5029200"/>
              <a:ext cx="106680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7166" y="51349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氨基酸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71416" y="5134928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美拉德反应 → 含氮化合物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95666" y="51349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可可、烟熏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7238" y="3569970"/>
              <a:ext cx="41955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4A2E1A"/>
                  </a:solidFill>
                  <a:latin typeface="+mn-lt"/>
                  <a:ea typeface="+mn-ea"/>
                  <a:cs typeface="+mn-cs"/>
                </a:rPr>
                <a:t>chart-plot-area: object=precursors-table | table | columns:3, rows:4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9600" y="5619750"/>
            <a:ext cx="10972800" cy="857250"/>
            <a:chOff x="609600" y="5619750"/>
            <a:chExt cx="10972800" cy="857250"/>
          </a:xfrm>
        </p:grpSpPr>
        <p:sp>
          <p:nvSpPr>
            <p:cNvPr id="56" name="Rectangle 56"/>
            <p:cNvSpPr/>
            <p:nvPr/>
          </p:nvSpPr>
          <p:spPr>
            <a:xfrm>
              <a:off x="609600" y="5619750"/>
              <a:ext cx="10972800" cy="857250"/>
            </a:xfrm>
            <a:prstGeom prst="roundRect">
              <a:avLst>
                <a:gd name="adj" fmla="val 8889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5619750"/>
              <a:ext cx="3810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0392" y="5759768"/>
              <a:ext cx="2999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精炼 (Conching) 继续做风味文章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1535" y="6050756"/>
              <a:ext cx="6690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高速搅拌 + 加热数小时至数天，挥发不良酸败味，重塑风味结构 — 精炼越久，风味越圆润、酸度越低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604838" y="6475095"/>
            <a:ext cx="24475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数据来源：Rohan (1963) IFT综述, Puratos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08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178101" cy="234696"/>
            <a:chOff x="603504" y="651510"/>
            <a:chExt cx="2178101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178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4 · 风味地图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4937760" cy="739140"/>
            <a:chOff x="609600" y="857250"/>
            <a:chExt cx="4937760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你的巧克力是什么味道？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1714500"/>
            <a:ext cx="5143500" cy="4762500"/>
            <a:chOff x="609600" y="1714500"/>
            <a:chExt cx="5143500" cy="4762500"/>
          </a:xfrm>
        </p:grpSpPr>
        <p:sp>
          <p:nvSpPr>
            <p:cNvPr id="8" name="Rectangle 8"/>
            <p:cNvSpPr/>
            <p:nvPr/>
          </p:nvSpPr>
          <p:spPr>
            <a:xfrm>
              <a:off x="609600" y="1714500"/>
              <a:ext cx="5143500" cy="476250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757047" y="1875949"/>
              <a:ext cx="137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Puratos Flavia 风味轮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181350" y="3048000"/>
              <a:ext cx="838200" cy="1047750"/>
            </a:xfrm>
            <a:custGeom>
              <a:avLst/>
              <a:gdLst/>
              <a:ahLst/>
              <a:cxnLst/>
              <a:rect l="l" t="t" r="r" b="b"/>
              <a:pathLst>
                <a:path w="838200" h="1047750">
                  <a:moveTo>
                    <a:pt x="0" y="1047750"/>
                  </a:moveTo>
                  <a:lnTo>
                    <a:pt x="0" y="0"/>
                  </a:lnTo>
                  <a:cubicBezTo>
                    <a:pt x="334897" y="6660"/>
                    <a:pt x="646423" y="173044"/>
                    <a:pt x="838200" y="447675"/>
                  </a:cubicBezTo>
                  <a:close/>
                </a:path>
              </a:pathLst>
            </a:custGeom>
            <a:solidFill>
              <a:schemeClr val="accent2">
                <a:alpha val="85000"/>
              </a:scheme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81350" y="3495675"/>
              <a:ext cx="1123950" cy="676275"/>
            </a:xfrm>
            <a:custGeom>
              <a:avLst/>
              <a:gdLst/>
              <a:ahLst/>
              <a:cxnLst/>
              <a:rect l="l" t="t" r="r" b="b"/>
              <a:pathLst>
                <a:path w="1123950" h="676275">
                  <a:moveTo>
                    <a:pt x="0" y="600075"/>
                  </a:moveTo>
                  <a:lnTo>
                    <a:pt x="838200" y="0"/>
                  </a:lnTo>
                  <a:cubicBezTo>
                    <a:pt x="1011896" y="183584"/>
                    <a:pt x="1113381" y="423764"/>
                    <a:pt x="1123950" y="676275"/>
                  </a:cubicBezTo>
                  <a:close/>
                </a:path>
              </a:pathLst>
            </a:custGeom>
            <a:solidFill>
              <a:schemeClr val="accent3">
                <a:alpha val="85000"/>
              </a:scheme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1350" y="4095750"/>
              <a:ext cx="1123950" cy="809625"/>
            </a:xfrm>
            <a:custGeom>
              <a:avLst/>
              <a:gdLst/>
              <a:ahLst/>
              <a:cxnLst/>
              <a:rect l="l" t="t" r="r" b="b"/>
              <a:pathLst>
                <a:path w="1123950" h="809625">
                  <a:moveTo>
                    <a:pt x="0" y="0"/>
                  </a:moveTo>
                  <a:lnTo>
                    <a:pt x="1123950" y="76200"/>
                  </a:lnTo>
                  <a:cubicBezTo>
                    <a:pt x="1068774" y="387130"/>
                    <a:pt x="876303" y="656589"/>
                    <a:pt x="600075" y="809625"/>
                  </a:cubicBezTo>
                  <a:close/>
                </a:path>
              </a:pathLst>
            </a:custGeom>
            <a:solidFill>
              <a:schemeClr val="accent5">
                <a:alpha val="85000"/>
              </a:scheme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81275" y="4095750"/>
              <a:ext cx="1200150" cy="1061440"/>
            </a:xfrm>
            <a:custGeom>
              <a:avLst/>
              <a:gdLst/>
              <a:ahLst/>
              <a:cxnLst/>
              <a:rect l="l" t="t" r="r" b="b"/>
              <a:pathLst>
                <a:path w="1200150" h="1061440">
                  <a:moveTo>
                    <a:pt x="600075" y="0"/>
                  </a:moveTo>
                  <a:lnTo>
                    <a:pt x="1200150" y="809625"/>
                  </a:lnTo>
                  <a:cubicBezTo>
                    <a:pt x="839727" y="1061440"/>
                    <a:pt x="360423" y="1061440"/>
                    <a:pt x="0" y="809625"/>
                  </a:cubicBezTo>
                  <a:close/>
                </a:path>
              </a:pathLst>
            </a:custGeom>
            <a:solidFill>
              <a:schemeClr val="accent6">
                <a:alpha val="85000"/>
              </a:scheme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326405" y="4095750"/>
              <a:ext cx="854945" cy="809625"/>
            </a:xfrm>
            <a:custGeom>
              <a:avLst/>
              <a:gdLst/>
              <a:ahLst/>
              <a:cxnLst/>
              <a:rect l="l" t="t" r="r" b="b"/>
              <a:pathLst>
                <a:path w="854945" h="809625">
                  <a:moveTo>
                    <a:pt x="854945" y="0"/>
                  </a:moveTo>
                  <a:lnTo>
                    <a:pt x="254870" y="809625"/>
                  </a:lnTo>
                  <a:cubicBezTo>
                    <a:pt x="85147" y="604310"/>
                    <a:pt x="0" y="342057"/>
                    <a:pt x="16745" y="7620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57144" y="3448050"/>
              <a:ext cx="924206" cy="723900"/>
            </a:xfrm>
            <a:custGeom>
              <a:avLst/>
              <a:gdLst/>
              <a:ahLst/>
              <a:cxnLst/>
              <a:rect l="l" t="t" r="r" b="b"/>
              <a:pathLst>
                <a:path w="924206" h="723900">
                  <a:moveTo>
                    <a:pt x="924206" y="647700"/>
                  </a:moveTo>
                  <a:lnTo>
                    <a:pt x="86006" y="723900"/>
                  </a:lnTo>
                  <a:cubicBezTo>
                    <a:pt x="0" y="490264"/>
                    <a:pt x="0" y="233636"/>
                    <a:pt x="86006" y="0"/>
                  </a:cubicBezTo>
                  <a:close/>
                </a:path>
              </a:pathLst>
            </a:custGeom>
            <a:solidFill>
              <a:srgbClr val="8B5E3C">
                <a:alpha val="8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343150" y="3048000"/>
              <a:ext cx="838200" cy="1047750"/>
            </a:xfrm>
            <a:custGeom>
              <a:avLst/>
              <a:gdLst/>
              <a:ahLst/>
              <a:cxnLst/>
              <a:rect l="l" t="t" r="r" b="b"/>
              <a:pathLst>
                <a:path w="838200" h="1047750">
                  <a:moveTo>
                    <a:pt x="838200" y="1047750"/>
                  </a:moveTo>
                  <a:lnTo>
                    <a:pt x="0" y="400050"/>
                  </a:lnTo>
                  <a:cubicBezTo>
                    <a:pt x="88924" y="235017"/>
                    <a:pt x="220498" y="96864"/>
                    <a:pt x="381000" y="0"/>
                  </a:cubicBezTo>
                  <a:close/>
                </a:path>
              </a:pathLst>
            </a:custGeom>
            <a:solidFill>
              <a:srgbClr val="7B2D26">
                <a:alpha val="85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014344"/>
              <a:ext cx="457200" cy="1081406"/>
            </a:xfrm>
            <a:custGeom>
              <a:avLst/>
              <a:gdLst/>
              <a:ahLst/>
              <a:cxnLst/>
              <a:rect l="l" t="t" r="r" b="b"/>
              <a:pathLst>
                <a:path w="457200" h="1081406">
                  <a:moveTo>
                    <a:pt x="457200" y="1081406"/>
                  </a:moveTo>
                  <a:lnTo>
                    <a:pt x="0" y="33656"/>
                  </a:lnTo>
                  <a:cubicBezTo>
                    <a:pt x="150542" y="0"/>
                    <a:pt x="306658" y="0"/>
                    <a:pt x="457200" y="33656"/>
                  </a:cubicBezTo>
                  <a:close/>
                </a:path>
              </a:pathLst>
            </a:custGeom>
            <a:solidFill>
              <a:srgbClr val="D4760A">
                <a:alpha val="8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752725" y="3667125"/>
              <a:ext cx="857250" cy="8572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752725" y="3667125"/>
              <a:ext cx="857250" cy="857250"/>
            </a:xfrm>
            <a:prstGeom prst="ellipse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85620" y="3944302"/>
              <a:ext cx="591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FLAVIA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94850" y="41319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风味轮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6047" y="2847499"/>
              <a:ext cx="744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Fruity 果味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6238" y="3027045"/>
              <a:ext cx="990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黑加仑·树莓·柑橘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1797" y="3895249"/>
              <a:ext cx="7097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Floral 花香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988" y="407479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玫瑰·茉莉·丁香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6047" y="5038249"/>
              <a:ext cx="933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Nutty/Roasty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86238" y="521779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杏仁·腰果·烘烤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29335" y="5304949"/>
              <a:ext cx="704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Cocoa 可可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46477" y="548449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黑巧·深烘·浓郁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78026" y="5038249"/>
              <a:ext cx="598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Sweet 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4511" y="521779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焦糖·太妃糖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3296" y="3895249"/>
              <a:ext cx="8076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b="1" dirty="0">
                  <a:solidFill>
                    <a:srgbClr val="8B5E3C"/>
                  </a:solidFill>
                  <a:latin typeface="+mn-lt"/>
                  <a:ea typeface="+mn-ea"/>
                  <a:cs typeface="+mn-cs"/>
                </a:rPr>
                <a:t>Creamy 奶感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08761" y="407479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奶油·棉花糖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65142" y="2847499"/>
              <a:ext cx="611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80" b="1" dirty="0">
                  <a:solidFill>
                    <a:srgbClr val="7B2D26"/>
                  </a:solidFill>
                  <a:latin typeface="+mn-lt"/>
                  <a:ea typeface="+mn-ea"/>
                  <a:cs typeface="+mn-cs"/>
                </a:rPr>
                <a:t>Bitter 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15669" y="3027045"/>
              <a:ext cx="5607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苦甜·干涩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46847" y="2561749"/>
              <a:ext cx="6690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b="1" dirty="0">
                  <a:solidFill>
                    <a:srgbClr val="D4760A"/>
                  </a:solidFill>
                  <a:latin typeface="+mn-lt"/>
                  <a:ea typeface="+mn-ea"/>
                  <a:cs typeface="+mn-cs"/>
                </a:rPr>
                <a:t>Spicy 辛香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00953" y="2741295"/>
              <a:ext cx="5607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辣椒·肉桂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88380" y="1838325"/>
            <a:ext cx="5494020" cy="3400425"/>
            <a:chOff x="6088380" y="1838325"/>
            <a:chExt cx="5494020" cy="3400425"/>
          </a:xfrm>
        </p:grpSpPr>
        <p:sp>
          <p:nvSpPr>
            <p:cNvPr id="39" name="TextBox 39"/>
            <p:cNvSpPr txBox="1"/>
            <p:nvPr/>
          </p:nvSpPr>
          <p:spPr>
            <a:xfrm>
              <a:off x="6088380" y="1838325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看懂你的巧克力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89904" y="2156460"/>
              <a:ext cx="4236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专业巧克力风味轮把风味分为 8 大类，每类下列具体风味词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89904" y="23850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帮助描述任何一块巧克力的风味特征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96000" y="2857500"/>
              <a:ext cx="5486400" cy="1143000"/>
            </a:xfrm>
            <a:prstGeom prst="roundRect">
              <a:avLst>
                <a:gd name="adj" fmla="val 6667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0" y="28575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80785" y="30218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为什么要懂风味？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80785" y="3288506"/>
              <a:ext cx="2393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能区分同一品牌不同产地的巧克力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0785" y="3517106"/>
              <a:ext cx="2710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能理解"发酵决定风味上限"的科学原理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80785" y="3745706"/>
              <a:ext cx="2243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能为自己选到真正喜欢的那一块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0" y="4191000"/>
              <a:ext cx="5486400" cy="1047750"/>
            </a:xfrm>
            <a:prstGeom prst="roundRect">
              <a:avLst>
                <a:gd name="adj" fmla="val 7273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96000" y="4191000"/>
              <a:ext cx="38100" cy="1047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5" y="4355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使用提示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80785" y="46220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品鉴时对照风味轮，逐类寻找匹配词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0785" y="4850606"/>
              <a:ext cx="2785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 描述得越精准，越能追踪到产地与工艺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04838" y="6475095"/>
            <a:ext cx="19954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来源：Puratos Flavia 巧克力风味轮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09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178101" cy="234696"/>
            <a:chOff x="603504" y="651510"/>
            <a:chExt cx="2178101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178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3 · 加工科学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5318608" cy="739140"/>
            <a:chOff x="609600" y="857250"/>
            <a:chExt cx="5318608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51052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调温：β 晶型让巧克力完美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809750"/>
            <a:ext cx="4762500" cy="4476750"/>
            <a:chOff x="609600" y="1809750"/>
            <a:chExt cx="4762500" cy="4476750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4762500" cy="3524250"/>
            </a:xfrm>
            <a:prstGeom prst="roundRect">
              <a:avLst>
                <a:gd name="adj" fmla="val 2162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09750"/>
              <a:ext cx="4762500" cy="357187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" y="5381625"/>
              <a:ext cx="47625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4385" y="5545931"/>
              <a:ext cx="1205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Conching · 精炼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766" y="58112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不锈钢罐中高速搅拌数小时至数天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60588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挥发酸涩味，融合风味，改善光泽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0" y="1809750"/>
            <a:ext cx="5867400" cy="3524250"/>
            <a:chOff x="5715000" y="1809750"/>
            <a:chExt cx="5867400" cy="3524250"/>
          </a:xfrm>
        </p:grpSpPr>
        <p:sp>
          <p:nvSpPr>
            <p:cNvPr id="15" name="Rectangle 15"/>
            <p:cNvSpPr/>
            <p:nvPr/>
          </p:nvSpPr>
          <p:spPr>
            <a:xfrm>
              <a:off x="5715000" y="1809750"/>
              <a:ext cx="5867400" cy="74295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180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38266" y="1963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理想晶型温度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32170" y="2138362"/>
              <a:ext cx="30196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β 晶型 · 27–28 °C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0" y="2686050"/>
              <a:ext cx="5867400" cy="74295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0" y="2686050"/>
              <a:ext cx="38100" cy="742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38266" y="2839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可可脂晶体形态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32170" y="3014662"/>
              <a:ext cx="23888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2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6 种（α 至 Ⅵ）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0" y="3562350"/>
              <a:ext cx="5867400" cy="10287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0" y="3562350"/>
              <a:ext cx="38100" cy="1028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38266" y="3677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三种关键晶型对比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8647" y="3914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晶型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547" y="3914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温度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9797" y="3914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38647" y="41238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2547" y="4123849"/>
              <a:ext cx="5465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14–16°C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9797" y="41238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不稳定，易融化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86450" y="4267200"/>
              <a:ext cx="5619750" cy="209550"/>
            </a:xfrm>
            <a:prstGeom prst="roundRect">
              <a:avLst>
                <a:gd name="adj" fmla="val 13636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38647" y="4314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2547" y="4314349"/>
              <a:ext cx="573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27–28°C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9797" y="4314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稳定，入口即化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38647" y="45048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2547" y="4504849"/>
              <a:ext cx="5465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21–24°C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9797" y="45048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半稳定，光泽差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15000" y="4705350"/>
              <a:ext cx="586740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0" y="4705350"/>
              <a:ext cx="38100" cy="6286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38647" y="48286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调温后的巧克力：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38266" y="5049202"/>
              <a:ext cx="2173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入口即化 · 有光泽 · 有「咔嚓」声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4838" y="6570345"/>
            <a:ext cx="37893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数据来源：F017 (conching), F018 (cocoa butter crystallization)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10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424227" cy="234696"/>
            <a:chOff x="603504" y="651510"/>
            <a:chExt cx="2424227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42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5 · 品鉴与科学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6145378" cy="739140"/>
            <a:chOff x="609600" y="857250"/>
            <a:chExt cx="6145378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59320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70% 黑巧，到底 70% 是什么？</a:t>
              </a:r>
            </a:p>
          </p:txBody>
        </p:sp>
      </p:grpSp>
      <p:sp>
        <p:nvSpPr>
          <p:cNvPr id="8" name="Ellipse 8"/>
          <p:cNvSpPr/>
          <p:nvPr/>
        </p:nvSpPr>
        <p:spPr>
          <a:xfrm>
            <a:off x="5048250" y="3000375"/>
            <a:ext cx="2095500" cy="2095500"/>
          </a:xfrm>
          <a:prstGeom prst="ellipse">
            <a:avLst/>
          </a:prstGeom>
          <a:noFill/>
          <a:ln w="342900">
            <a:solidFill>
              <a:srgbClr val="2E1A0E"/>
            </a:solidFill>
          </a:ln>
        </p:spPr>
      </p:sp>
      <p:sp>
        <p:nvSpPr>
          <p:cNvPr id="9" name="Arc 9"/>
          <p:cNvSpPr/>
          <p:nvPr/>
        </p:nvSpPr>
        <p:spPr>
          <a:xfrm>
            <a:off x="4876800" y="2829422"/>
            <a:ext cx="2437280" cy="2378213"/>
          </a:xfrm>
          <a:custGeom>
            <a:avLst/>
            <a:gdLst/>
            <a:ahLst/>
            <a:cxnLst/>
            <a:rect l="l" t="t" r="r" b="b"/>
            <a:pathLst>
              <a:path w="2437280" h="2378213">
                <a:moveTo>
                  <a:pt x="0" y="1218703"/>
                </a:moveTo>
                <a:lnTo>
                  <a:pt x="6086" y="1097037"/>
                </a:lnTo>
                <a:lnTo>
                  <a:pt x="24283" y="976585"/>
                </a:lnTo>
                <a:lnTo>
                  <a:pt x="54409" y="858550"/>
                </a:lnTo>
                <a:lnTo>
                  <a:pt x="96164" y="744110"/>
                </a:lnTo>
                <a:lnTo>
                  <a:pt x="149131" y="634409"/>
                </a:lnTo>
                <a:lnTo>
                  <a:pt x="212780" y="530541"/>
                </a:lnTo>
                <a:lnTo>
                  <a:pt x="286477" y="433543"/>
                </a:lnTo>
                <a:lnTo>
                  <a:pt x="369486" y="344384"/>
                </a:lnTo>
                <a:lnTo>
                  <a:pt x="460978" y="263953"/>
                </a:lnTo>
                <a:lnTo>
                  <a:pt x="560040" y="193054"/>
                </a:lnTo>
                <a:lnTo>
                  <a:pt x="665682" y="132395"/>
                </a:lnTo>
                <a:lnTo>
                  <a:pt x="776850" y="82581"/>
                </a:lnTo>
                <a:lnTo>
                  <a:pt x="892434" y="44109"/>
                </a:lnTo>
                <a:lnTo>
                  <a:pt x="1011281" y="17363"/>
                </a:lnTo>
                <a:lnTo>
                  <a:pt x="1132203" y="2611"/>
                </a:lnTo>
                <a:lnTo>
                  <a:pt x="1253994" y="0"/>
                </a:lnTo>
                <a:lnTo>
                  <a:pt x="1375438" y="9556"/>
                </a:lnTo>
                <a:lnTo>
                  <a:pt x="1495322" y="31183"/>
                </a:lnTo>
                <a:lnTo>
                  <a:pt x="1612449" y="64665"/>
                </a:lnTo>
                <a:lnTo>
                  <a:pt x="1725650" y="109669"/>
                </a:lnTo>
                <a:lnTo>
                  <a:pt x="1833795" y="165745"/>
                </a:lnTo>
                <a:lnTo>
                  <a:pt x="1935804" y="232333"/>
                </a:lnTo>
                <a:lnTo>
                  <a:pt x="2030659" y="308768"/>
                </a:lnTo>
                <a:lnTo>
                  <a:pt x="2117413" y="394288"/>
                </a:lnTo>
                <a:lnTo>
                  <a:pt x="2195200" y="488038"/>
                </a:lnTo>
                <a:lnTo>
                  <a:pt x="2263243" y="589082"/>
                </a:lnTo>
                <a:lnTo>
                  <a:pt x="2320863" y="696412"/>
                </a:lnTo>
                <a:lnTo>
                  <a:pt x="2367484" y="808957"/>
                </a:lnTo>
                <a:lnTo>
                  <a:pt x="2402642" y="925592"/>
                </a:lnTo>
                <a:lnTo>
                  <a:pt x="2425985" y="1045154"/>
                </a:lnTo>
                <a:lnTo>
                  <a:pt x="2437280" y="1166448"/>
                </a:lnTo>
                <a:lnTo>
                  <a:pt x="2436414" y="1288264"/>
                </a:lnTo>
                <a:lnTo>
                  <a:pt x="2423396" y="1409385"/>
                </a:lnTo>
                <a:lnTo>
                  <a:pt x="2398357" y="1528603"/>
                </a:lnTo>
                <a:lnTo>
                  <a:pt x="2361545" y="1644727"/>
                </a:lnTo>
                <a:lnTo>
                  <a:pt x="2313329" y="1756597"/>
                </a:lnTo>
                <a:lnTo>
                  <a:pt x="2254190" y="1863098"/>
                </a:lnTo>
                <a:lnTo>
                  <a:pt x="2184718" y="1963165"/>
                </a:lnTo>
                <a:lnTo>
                  <a:pt x="2105607" y="2055800"/>
                </a:lnTo>
                <a:lnTo>
                  <a:pt x="2017646" y="2140079"/>
                </a:lnTo>
                <a:lnTo>
                  <a:pt x="1921715" y="2215158"/>
                </a:lnTo>
                <a:lnTo>
                  <a:pt x="1818769" y="2280290"/>
                </a:lnTo>
                <a:lnTo>
                  <a:pt x="1709838" y="2334823"/>
                </a:lnTo>
                <a:lnTo>
                  <a:pt x="1596009" y="2378213"/>
                </a:lnTo>
                <a:lnTo>
                  <a:pt x="1490032" y="2052101"/>
                </a:lnTo>
                <a:lnTo>
                  <a:pt x="1571846" y="2020914"/>
                </a:lnTo>
                <a:lnTo>
                  <a:pt x="1650140" y="1981718"/>
                </a:lnTo>
                <a:lnTo>
                  <a:pt x="1724132" y="1934905"/>
                </a:lnTo>
                <a:lnTo>
                  <a:pt x="1793083" y="1880942"/>
                </a:lnTo>
                <a:lnTo>
                  <a:pt x="1856305" y="1820367"/>
                </a:lnTo>
                <a:lnTo>
                  <a:pt x="1913166" y="1753785"/>
                </a:lnTo>
                <a:lnTo>
                  <a:pt x="1963099" y="1681862"/>
                </a:lnTo>
                <a:lnTo>
                  <a:pt x="2005605" y="1605315"/>
                </a:lnTo>
                <a:lnTo>
                  <a:pt x="2040261" y="1524908"/>
                </a:lnTo>
                <a:lnTo>
                  <a:pt x="2066719" y="1441444"/>
                </a:lnTo>
                <a:lnTo>
                  <a:pt x="2084716" y="1355756"/>
                </a:lnTo>
                <a:lnTo>
                  <a:pt x="2094073" y="1268700"/>
                </a:lnTo>
                <a:lnTo>
                  <a:pt x="2094695" y="1181145"/>
                </a:lnTo>
                <a:lnTo>
                  <a:pt x="2086576" y="1093965"/>
                </a:lnTo>
                <a:lnTo>
                  <a:pt x="2069799" y="1008030"/>
                </a:lnTo>
                <a:lnTo>
                  <a:pt x="2044529" y="924198"/>
                </a:lnTo>
                <a:lnTo>
                  <a:pt x="2011020" y="843307"/>
                </a:lnTo>
                <a:lnTo>
                  <a:pt x="1969606" y="766163"/>
                </a:lnTo>
                <a:lnTo>
                  <a:pt x="1920700" y="693537"/>
                </a:lnTo>
                <a:lnTo>
                  <a:pt x="1864791" y="626154"/>
                </a:lnTo>
                <a:lnTo>
                  <a:pt x="1802436" y="564687"/>
                </a:lnTo>
                <a:lnTo>
                  <a:pt x="1734259" y="509749"/>
                </a:lnTo>
                <a:lnTo>
                  <a:pt x="1660940" y="461889"/>
                </a:lnTo>
                <a:lnTo>
                  <a:pt x="1583211" y="421585"/>
                </a:lnTo>
                <a:lnTo>
                  <a:pt x="1501848" y="389238"/>
                </a:lnTo>
                <a:lnTo>
                  <a:pt x="1417662" y="365173"/>
                </a:lnTo>
                <a:lnTo>
                  <a:pt x="1331496" y="349628"/>
                </a:lnTo>
                <a:lnTo>
                  <a:pt x="1244208" y="342760"/>
                </a:lnTo>
                <a:lnTo>
                  <a:pt x="1156671" y="344637"/>
                </a:lnTo>
                <a:lnTo>
                  <a:pt x="1069758" y="355240"/>
                </a:lnTo>
                <a:lnTo>
                  <a:pt x="984337" y="374463"/>
                </a:lnTo>
                <a:lnTo>
                  <a:pt x="901261" y="402115"/>
                </a:lnTo>
                <a:lnTo>
                  <a:pt x="821359" y="437919"/>
                </a:lnTo>
                <a:lnTo>
                  <a:pt x="745428" y="481518"/>
                </a:lnTo>
                <a:lnTo>
                  <a:pt x="674228" y="532477"/>
                </a:lnTo>
                <a:lnTo>
                  <a:pt x="608468" y="590286"/>
                </a:lnTo>
                <a:lnTo>
                  <a:pt x="548806" y="654369"/>
                </a:lnTo>
                <a:lnTo>
                  <a:pt x="495836" y="724087"/>
                </a:lnTo>
                <a:lnTo>
                  <a:pt x="450088" y="798742"/>
                </a:lnTo>
                <a:lnTo>
                  <a:pt x="412018" y="877590"/>
                </a:lnTo>
                <a:lnTo>
                  <a:pt x="382007" y="959843"/>
                </a:lnTo>
                <a:lnTo>
                  <a:pt x="360353" y="1044680"/>
                </a:lnTo>
                <a:lnTo>
                  <a:pt x="347274" y="1131255"/>
                </a:lnTo>
                <a:lnTo>
                  <a:pt x="342900" y="121870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0" name="Arc 10"/>
          <p:cNvSpPr/>
          <p:nvPr/>
        </p:nvSpPr>
        <p:spPr>
          <a:xfrm>
            <a:off x="4876800" y="4047575"/>
            <a:ext cx="1596009" cy="1219584"/>
          </a:xfrm>
          <a:custGeom>
            <a:avLst/>
            <a:gdLst/>
            <a:ahLst/>
            <a:cxnLst/>
            <a:rect l="l" t="t" r="r" b="b"/>
            <a:pathLst>
              <a:path w="1596009" h="1219584">
                <a:moveTo>
                  <a:pt x="1596009" y="1160060"/>
                </a:moveTo>
                <a:lnTo>
                  <a:pt x="1479281" y="1191687"/>
                </a:lnTo>
                <a:lnTo>
                  <a:pt x="1359993" y="1211593"/>
                </a:lnTo>
                <a:lnTo>
                  <a:pt x="1239320" y="1219584"/>
                </a:lnTo>
                <a:lnTo>
                  <a:pt x="1118450" y="1215580"/>
                </a:lnTo>
                <a:lnTo>
                  <a:pt x="998570" y="1199621"/>
                </a:lnTo>
                <a:lnTo>
                  <a:pt x="880862" y="1171864"/>
                </a:lnTo>
                <a:lnTo>
                  <a:pt x="766482" y="1132581"/>
                </a:lnTo>
                <a:lnTo>
                  <a:pt x="656557" y="1082161"/>
                </a:lnTo>
                <a:lnTo>
                  <a:pt x="552168" y="1021098"/>
                </a:lnTo>
                <a:lnTo>
                  <a:pt x="454343" y="949993"/>
                </a:lnTo>
                <a:lnTo>
                  <a:pt x="364043" y="869546"/>
                </a:lnTo>
                <a:lnTo>
                  <a:pt x="282157" y="780549"/>
                </a:lnTo>
                <a:lnTo>
                  <a:pt x="209491" y="683877"/>
                </a:lnTo>
                <a:lnTo>
                  <a:pt x="146760" y="580482"/>
                </a:lnTo>
                <a:lnTo>
                  <a:pt x="94581" y="471381"/>
                </a:lnTo>
                <a:lnTo>
                  <a:pt x="53468" y="357646"/>
                </a:lnTo>
                <a:lnTo>
                  <a:pt x="23825" y="240399"/>
                </a:lnTo>
                <a:lnTo>
                  <a:pt x="5944" y="120791"/>
                </a:lnTo>
                <a:lnTo>
                  <a:pt x="0" y="0"/>
                </a:lnTo>
                <a:lnTo>
                  <a:pt x="342900" y="155"/>
                </a:lnTo>
                <a:lnTo>
                  <a:pt x="347172" y="86973"/>
                </a:lnTo>
                <a:lnTo>
                  <a:pt x="360024" y="172941"/>
                </a:lnTo>
                <a:lnTo>
                  <a:pt x="381330" y="257213"/>
                </a:lnTo>
                <a:lnTo>
                  <a:pt x="410880" y="338959"/>
                </a:lnTo>
                <a:lnTo>
                  <a:pt x="448384" y="417376"/>
                </a:lnTo>
                <a:lnTo>
                  <a:pt x="493472" y="491692"/>
                </a:lnTo>
                <a:lnTo>
                  <a:pt x="545700" y="561174"/>
                </a:lnTo>
                <a:lnTo>
                  <a:pt x="604556" y="625141"/>
                </a:lnTo>
                <a:lnTo>
                  <a:pt x="669459" y="682962"/>
                </a:lnTo>
                <a:lnTo>
                  <a:pt x="739771" y="734069"/>
                </a:lnTo>
                <a:lnTo>
                  <a:pt x="814801" y="777958"/>
                </a:lnTo>
                <a:lnTo>
                  <a:pt x="893809" y="814198"/>
                </a:lnTo>
                <a:lnTo>
                  <a:pt x="976019" y="842432"/>
                </a:lnTo>
                <a:lnTo>
                  <a:pt x="1060622" y="862382"/>
                </a:lnTo>
                <a:lnTo>
                  <a:pt x="1146786" y="873853"/>
                </a:lnTo>
                <a:lnTo>
                  <a:pt x="1233662" y="876731"/>
                </a:lnTo>
                <a:lnTo>
                  <a:pt x="1320395" y="870987"/>
                </a:lnTo>
                <a:lnTo>
                  <a:pt x="1406133" y="856679"/>
                </a:lnTo>
                <a:lnTo>
                  <a:pt x="1490031" y="83394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580370" y="3592830"/>
            <a:ext cx="103126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70%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07964" y="41538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" sz="10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可可成分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429500" y="1905000"/>
            <a:ext cx="152400" cy="152400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652766" y="1915478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可可固形物 + 可可脂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53147" y="2104549"/>
            <a:ext cx="13489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（占总固体重量 70%）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429500" y="2381250"/>
            <a:ext cx="152400" cy="152400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652766" y="2391728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糖 + 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53147" y="2580799"/>
            <a:ext cx="13489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（占总固体重量 30%）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09600" y="1809750"/>
            <a:ext cx="2476500" cy="3086100"/>
            <a:chOff x="609600" y="1809750"/>
            <a:chExt cx="2476500" cy="3086100"/>
          </a:xfrm>
        </p:grpSpPr>
        <p:sp>
          <p:nvSpPr>
            <p:cNvPr id="19" name="Rectangle 19"/>
            <p:cNvSpPr/>
            <p:nvPr/>
          </p:nvSpPr>
          <p:spPr>
            <a:xfrm>
              <a:off x="609600" y="1809750"/>
              <a:ext cx="2476500" cy="6858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1809750"/>
              <a:ext cx="38100" cy="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247" y="1942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104" y="2194560"/>
              <a:ext cx="1010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可可百分比 =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866" y="2363152"/>
              <a:ext cx="2116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（可可固形物+可可脂）/总固体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2609850"/>
              <a:ext cx="2476500" cy="6858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2609850"/>
              <a:ext cx="38100" cy="68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247" y="27427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不含糖奶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866" y="3010852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70%黑巧 ≈ 70%可可 + 30%糖奶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3409950"/>
              <a:ext cx="2476500" cy="6858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409950"/>
              <a:ext cx="38100" cy="685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3247" y="35428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风味规律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866" y="38109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百分比越高 → 越浓郁、越苦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" y="4210050"/>
              <a:ext cx="2476500" cy="6858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" y="4210050"/>
              <a:ext cx="38100" cy="685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3247" y="4342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健康益处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866" y="46110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高多酚抗氧化 · 可可碱舒张血管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44000" y="1809750"/>
            <a:ext cx="2438400" cy="2781300"/>
            <a:chOff x="9144000" y="1809750"/>
            <a:chExt cx="2438400" cy="2781300"/>
          </a:xfrm>
        </p:grpSpPr>
        <p:sp>
          <p:nvSpPr>
            <p:cNvPr id="37" name="Rectangle 37"/>
            <p:cNvSpPr/>
            <p:nvPr/>
          </p:nvSpPr>
          <p:spPr>
            <a:xfrm>
              <a:off x="9144000" y="1809750"/>
              <a:ext cx="24384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44000" y="1809750"/>
              <a:ext cx="38100" cy="13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67647" y="1942624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⚠ 警惕廉价巧克力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67266" y="22107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常用棕榈油替代可可脂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67647" y="24283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降本但牺牲口感与光泽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7266" y="2725102"/>
              <a:ext cx="13324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 光泽差、入口软塌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44000" y="3257550"/>
              <a:ext cx="24384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144000" y="3257550"/>
              <a:ext cx="38100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67647" y="3390424"/>
              <a:ext cx="709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✓ 精品标志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66504" y="3642360"/>
              <a:ext cx="1617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100% Cocoa Butter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67266" y="39252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纯可可脂 = 精品巧克力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67647" y="41428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入口即化、光泽稳定、有脆响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604838" y="6570345"/>
            <a:ext cx="68237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数据来源：F027 (cocoa percentage), F028 (flavor intensity), F029 (antioxidants), F030 (palm oil vs cocoa butter)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11 / 12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03504" y="651510"/>
            <a:ext cx="2424227" cy="234696"/>
            <a:chOff x="603504" y="651510"/>
            <a:chExt cx="2424227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51510"/>
              <a:ext cx="242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PART 5 · 品鉴与科学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857250"/>
            <a:ext cx="4465168" cy="739140"/>
            <a:chOff x="609600" y="857250"/>
            <a:chExt cx="4465168" cy="739140"/>
          </a:xfrm>
        </p:grpSpPr>
        <p:sp>
          <p:nvSpPr>
            <p:cNvPr id="5" name="Rectangle 5"/>
            <p:cNvSpPr/>
            <p:nvPr/>
          </p:nvSpPr>
          <p:spPr>
            <a:xfrm>
              <a:off x="609600" y="85725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2960" y="1009650"/>
              <a:ext cx="425180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 步，品一块好巧克力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905000"/>
            <a:ext cx="2057400" cy="3619500"/>
            <a:chOff x="609600" y="1905000"/>
            <a:chExt cx="2057400" cy="3619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2057400" cy="3619500"/>
            </a:xfrm>
            <a:prstGeom prst="roundRect">
              <a:avLst>
                <a:gd name="adj" fmla="val 370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609600" y="1905000"/>
              <a:ext cx="20574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95400" y="2114550"/>
              <a:ext cx="685800" cy="6858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7536" y="228409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78280" y="2916555"/>
              <a:ext cx="320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5280" y="3315652"/>
              <a:ext cx="326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Look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766" y="36490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掰开看断面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766" y="3868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观察表面光泽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147" y="4095274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光滑有光=调温好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699099" y="35814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" sz="15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952750" y="1905000"/>
            <a:ext cx="2057400" cy="3619500"/>
            <a:chOff x="2952750" y="1905000"/>
            <a:chExt cx="2057400" cy="3619500"/>
          </a:xfrm>
        </p:grpSpPr>
        <p:sp>
          <p:nvSpPr>
            <p:cNvPr id="19" name="Rectangle 19"/>
            <p:cNvSpPr/>
            <p:nvPr/>
          </p:nvSpPr>
          <p:spPr>
            <a:xfrm>
              <a:off x="2952750" y="1905000"/>
              <a:ext cx="2057400" cy="3619500"/>
            </a:xfrm>
            <a:prstGeom prst="roundRect">
              <a:avLst>
                <a:gd name="adj" fmla="val 370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2952750" y="1905000"/>
              <a:ext cx="20574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638550" y="2114550"/>
              <a:ext cx="685800" cy="685800"/>
            </a:xfrm>
            <a:prstGeom prst="ellipse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70686" y="228409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21430" y="2916555"/>
              <a:ext cx="320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01001" y="3315652"/>
              <a:ext cx="360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Smell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7916" y="36490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未入口先闻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7916" y="3868102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干香（aroma）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38297" y="4095274"/>
              <a:ext cx="13423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花果香/坚果香/可可香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042249" y="35814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" sz="15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295900" y="1905000"/>
            <a:ext cx="2057400" cy="3619500"/>
            <a:chOff x="5295900" y="1905000"/>
            <a:chExt cx="2057400" cy="3619500"/>
          </a:xfrm>
        </p:grpSpPr>
        <p:sp>
          <p:nvSpPr>
            <p:cNvPr id="30" name="Rectangle 30"/>
            <p:cNvSpPr/>
            <p:nvPr/>
          </p:nvSpPr>
          <p:spPr>
            <a:xfrm>
              <a:off x="5295900" y="1905000"/>
              <a:ext cx="2057400" cy="3619500"/>
            </a:xfrm>
            <a:prstGeom prst="roundRect">
              <a:avLst>
                <a:gd name="adj" fmla="val 370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5295900" y="1905000"/>
              <a:ext cx="2057400" cy="476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981700" y="2114550"/>
              <a:ext cx="685800" cy="685800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13836" y="228409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4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64580" y="2916555"/>
              <a:ext cx="320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2708" y="3315652"/>
              <a:ext cx="403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Taste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81066" y="3649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小口入口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81066" y="3868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让体温融化可可脂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81447" y="4095274"/>
              <a:ext cx="1034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最佳温度 ≈ 37°C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385399" y="35814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" sz="15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7639050" y="1905000"/>
            <a:ext cx="2057400" cy="3619500"/>
            <a:chOff x="7639050" y="1905000"/>
            <a:chExt cx="2057400" cy="3619500"/>
          </a:xfrm>
        </p:grpSpPr>
        <p:sp>
          <p:nvSpPr>
            <p:cNvPr id="41" name="Rectangle 41"/>
            <p:cNvSpPr/>
            <p:nvPr/>
          </p:nvSpPr>
          <p:spPr>
            <a:xfrm>
              <a:off x="7639050" y="1905000"/>
              <a:ext cx="2057400" cy="3619500"/>
            </a:xfrm>
            <a:prstGeom prst="roundRect">
              <a:avLst>
                <a:gd name="adj" fmla="val 3704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7639050" y="1905000"/>
              <a:ext cx="2057400" cy="476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324850" y="2114550"/>
              <a:ext cx="685800" cy="685800"/>
            </a:xfrm>
            <a:prstGeom prst="ellipse">
              <a:avLst/>
            </a:prstGeom>
            <a:solidFill>
              <a:schemeClr val="accent6">
                <a:alpha val="15000"/>
              </a:scheme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56986" y="228409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4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58378" y="2916555"/>
              <a:ext cx="6187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感受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22649" y="3315652"/>
              <a:ext cx="290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Feel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24216" y="36490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观察风味随温度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24216" y="3868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如何逐渐打开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24597" y="4095274"/>
              <a:ext cx="88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酸→甜→苦→余韵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728549" y="35814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s" sz="15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9982200" y="1905000"/>
            <a:ext cx="1600200" cy="3619500"/>
            <a:chOff x="9982200" y="1905000"/>
            <a:chExt cx="1600200" cy="3619500"/>
          </a:xfrm>
        </p:grpSpPr>
        <p:sp>
          <p:nvSpPr>
            <p:cNvPr id="52" name="Rectangle 52"/>
            <p:cNvSpPr/>
            <p:nvPr/>
          </p:nvSpPr>
          <p:spPr>
            <a:xfrm>
              <a:off x="9982200" y="1905000"/>
              <a:ext cx="1600200" cy="3619500"/>
            </a:xfrm>
            <a:prstGeom prst="roundRect">
              <a:avLst>
                <a:gd name="adj" fmla="val 4762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53" name="Rectangle 53"/>
            <p:cNvSpPr/>
            <p:nvPr/>
          </p:nvSpPr>
          <p:spPr>
            <a:xfrm>
              <a:off x="9982200" y="1905000"/>
              <a:ext cx="16002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0439400" y="2114550"/>
              <a:ext cx="685800" cy="6858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71536" y="228409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72928" y="2916555"/>
              <a:ext cx="6187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回味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77208" y="3315652"/>
              <a:ext cx="41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Finish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67366" y="36490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留意苦酸甜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67366" y="38681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平衡与回味长度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67747" y="4095274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回味越长=品质越高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5715000"/>
            <a:ext cx="10972800" cy="762000"/>
            <a:chOff x="609600" y="5715000"/>
            <a:chExt cx="10972800" cy="762000"/>
          </a:xfrm>
        </p:grpSpPr>
        <p:sp>
          <p:nvSpPr>
            <p:cNvPr id="62" name="Rectangle 62"/>
            <p:cNvSpPr/>
            <p:nvPr/>
          </p:nvSpPr>
          <p:spPr>
            <a:xfrm>
              <a:off x="609600" y="57150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9600" y="5715000"/>
              <a:ext cx="38100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09066" y="5887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搭配建议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8685" y="6146006"/>
              <a:ext cx="4429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黑巧配红葡萄酒 · 牛奶巧配咖啡或茶 · 品鉴前让巧克力回温至室温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604838" y="6570345"/>
            <a:ext cx="195589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0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数据来源：F026 (tasting method)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06232" y="286702"/>
            <a:ext cx="605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spc="150" dirty="0">
                <a:solidFill>
                  <a:srgbClr val="B8997A"/>
                </a:solidFill>
                <a:latin typeface="+mn-lt"/>
                <a:ea typeface="+mn-ea"/>
                <a:cs typeface="+mn-cs"/>
              </a:rPr>
              <a:t>12 / 12</a:t>
            </a:r>
          </a:p>
        </p:txBody>
      </p:sp>
      <p:sp>
        <p:nvSpPr>
          <p:cNvPr id="3" name="Rectangle 3"/>
          <p:cNvSpPr/>
          <p:nvPr/>
        </p:nvSpPr>
        <p:spPr>
          <a:xfrm>
            <a:off x="609600" y="762000"/>
            <a:ext cx="10972800" cy="9525"/>
          </a:xfrm>
          <a:prstGeom prst="rect">
            <a:avLst/>
          </a:prstGeom>
          <a:solidFill>
            <a:srgbClr val="4A2E1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952500"/>
            <a:ext cx="3907536" cy="1524000"/>
            <a:chOff x="609600" y="952500"/>
            <a:chExt cx="3907536" cy="1524000"/>
          </a:xfrm>
        </p:grpSpPr>
        <p:sp>
          <p:nvSpPr>
            <p:cNvPr id="4" name="Rectangle 4"/>
            <p:cNvSpPr/>
            <p:nvPr/>
          </p:nvSpPr>
          <p:spPr>
            <a:xfrm>
              <a:off x="609600" y="952500"/>
              <a:ext cx="38100" cy="1524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96112" y="1116330"/>
              <a:ext cx="2596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6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看懂可可，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6112" y="1592580"/>
              <a:ext cx="36210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36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就能读懂风味。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8106" y="3467100"/>
            <a:ext cx="10200894" cy="828389"/>
            <a:chOff x="848106" y="3467100"/>
            <a:chExt cx="10200894" cy="828389"/>
          </a:xfrm>
        </p:grpSpPr>
        <p:sp>
          <p:nvSpPr>
            <p:cNvPr id="8" name="Line 8"/>
            <p:cNvSpPr/>
            <p:nvPr/>
          </p:nvSpPr>
          <p:spPr>
            <a:xfrm>
              <a:off x="1143000" y="3619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4A2E1A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47750" y="3524250"/>
              <a:ext cx="190500" cy="190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0600" y="3467100"/>
              <a:ext cx="304800" cy="304800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8106" y="385476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可可果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156" y="41047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生物学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3333750" y="3524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276600" y="3467100"/>
              <a:ext cx="304800" cy="3048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38094" y="38547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产地地图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92119" y="41047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地理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619750" y="352425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562600" y="3467100"/>
              <a:ext cx="304800" cy="3048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16118" y="385476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加工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78119" y="41047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科学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905750" y="3524250"/>
              <a:ext cx="190500" cy="190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848600" y="3467100"/>
              <a:ext cx="304800" cy="304800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2118" y="385476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风味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4119" y="41047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化学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0191750" y="3524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134600" y="3467100"/>
              <a:ext cx="304800" cy="3048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88118" y="385476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品鉴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0119" y="41047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感官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857750"/>
            <a:ext cx="10972800" cy="1524000"/>
            <a:chOff x="609600" y="4857750"/>
            <a:chExt cx="10972800" cy="1524000"/>
          </a:xfrm>
        </p:grpSpPr>
        <p:sp>
          <p:nvSpPr>
            <p:cNvPr id="30" name="Rectangle 30"/>
            <p:cNvSpPr/>
            <p:nvPr/>
          </p:nvSpPr>
          <p:spPr>
            <a:xfrm>
              <a:off x="609600" y="4857750"/>
              <a:ext cx="109728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1875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609600" y="4857750"/>
              <a:ext cx="38100" cy="152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9066" y="50777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B8997A"/>
                  </a:solidFill>
                  <a:latin typeface="+mn-lt"/>
                  <a:ea typeface="+mn-ea"/>
                  <a:cs typeface="+mn-cs"/>
                </a:rPr>
                <a:t>核心认知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304" y="5375910"/>
              <a:ext cx="2887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巧克力 = 可可固形物 + 可可脂 + 糖/奶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304" y="5642610"/>
              <a:ext cx="2403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风味来自发酵对风味前体的转化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8304" y="5909310"/>
              <a:ext cx="2597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品鉴有方法：看→闻→尝→感受→回味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6137910"/>
              <a:ext cx="44842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下一次拿起巧克力，你不再只是"吃糖"，而是在"读风味"。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09600" y="6572250"/>
            <a:ext cx="10972800" cy="9525"/>
          </a:xfrm>
          <a:prstGeom prst="rect">
            <a:avLst/>
          </a:prstGeom>
          <a:solidFill>
            <a:srgbClr val="4A2E1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hocolate-cocoa-showcase">
  <a:themeElements>
    <a:clrScheme name="chocolate-cocoa-showcase">
      <a:dk1>
        <a:srgbClr val="E5CFB0"/>
      </a:dk1>
      <a:lt1>
        <a:srgbClr val="1C0F09"/>
      </a:lt1>
      <a:dk2>
        <a:srgbClr val="1F497D"/>
      </a:dk2>
      <a:lt2>
        <a:srgbClr val="2E1A0E"/>
      </a:lt2>
      <a:accent1>
        <a:srgbClr val="F2E0C4"/>
      </a:accent1>
      <a:accent2>
        <a:srgbClr val="F0932B"/>
      </a:accent2>
      <a:accent3>
        <a:srgbClr val="C0392B"/>
      </a:accent3>
      <a:accent4>
        <a:srgbClr val="F2E0C4"/>
      </a:accent4>
      <a:accent5>
        <a:srgbClr val="E8B830"/>
      </a:accent5>
      <a:accent6>
        <a:srgbClr val="5C8A3A"/>
      </a:accent6>
      <a:hlink>
        <a:srgbClr val="F0932B"/>
      </a:hlink>
      <a:folHlink>
        <a:srgbClr val="C0392B"/>
      </a:folHlink>
    </a:clrScheme>
    <a:fontScheme name="chocolate-cocoa-showcase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ocolate-cocoa-showca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zh-Hans</dc:language>
  <cp:lastModifiedBy/>
  <cp:revision>1</cp:revision>
  <dcterms:created xsi:type="dcterms:W3CDTF">2026-10-29T08:49:47Z</dcterms:created>
  <dcterms:modified xsi:type="dcterms:W3CDTF">2026-10-29T08:49:47Z</dcterms:modified>
  <cp:category/>
  <cp:contentStatus/>
</cp:coreProperties>
</file>