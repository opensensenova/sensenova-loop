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celand-light-terrai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celand-light-terrai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c8f8b39d0829e1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92cbc98808c9a54.png"/>
  <Relationship Id="rId3" Type="http://schemas.openxmlformats.org/officeDocument/2006/relationships/image" Target="../media/image_172fd3dcacde6672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2d6e2622f4f4fa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50ff097c9a6a618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8ad74d152e57da.png"/>
  <Relationship Id="rId3" Type="http://schemas.openxmlformats.org/officeDocument/2006/relationships/image" Target="../media/image_76ac09118044f7a6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8ad74d152e57da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6ac09118044f7a6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2d6e2622f4f4fa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e89992659f37ad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55000"/>
                </a:schemeClr>
              </a:gs>
              <a:gs pos="45000">
                <a:schemeClr val="lt1">
                  <a:alpha val="15000"/>
                </a:schemeClr>
              </a:gs>
              <a:gs pos="100000">
                <a:schemeClr val="lt1">
                  <a:alpha val="8500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60000">
                <a:schemeClr val="lt1">
                  <a:alpha val="10000"/>
                </a:schemeClr>
              </a:gs>
              <a:gs pos="100000">
                <a:schemeClr val="lt1">
                  <a:alpha val="3000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28000"/>
                </a:schemeClr>
              </a:gs>
              <a:gs pos="100000">
                <a:schemeClr val="accent2">
                  <a:alpha val="0"/>
                </a:schemeClr>
              </a:gs>
            </a:gsLst>
            <a:path path="circle">
              <a:fillToRect l="50000" t="35000" r="50000" b="65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-762000" y="1397000"/>
            <a:ext cx="13716000" cy="2413000"/>
            <a:chOff x="-762000" y="1397000"/>
            <a:chExt cx="13716000" cy="2413000"/>
          </a:xfrm>
        </p:grpSpPr>
        <p:sp>
          <p:nvSpPr>
            <p:cNvPr id="6" name="Freeform 6"/>
            <p:cNvSpPr/>
            <p:nvPr/>
          </p:nvSpPr>
          <p:spPr>
            <a:xfrm>
              <a:off x="-762000" y="1397000"/>
              <a:ext cx="13716000" cy="2032000"/>
            </a:xfrm>
            <a:custGeom>
              <a:avLst/>
              <a:gdLst/>
              <a:ahLst/>
              <a:cxnLst/>
              <a:rect l="l" t="t" r="r" b="b"/>
              <a:pathLst>
                <a:path w="13716000" h="2032000">
                  <a:moveTo>
                    <a:pt x="0" y="2032000"/>
                  </a:moveTo>
                  <a:cubicBezTo>
                    <a:pt x="4572000" y="0"/>
                    <a:pt x="9144000" y="0"/>
                    <a:pt x="13716000" y="2032000"/>
                  </a:cubicBezTo>
                </a:path>
              </a:pathLst>
            </a:custGeom>
            <a:noFill/>
            <a:ln w="1143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-762000" y="1905000"/>
              <a:ext cx="13716000" cy="1905000"/>
            </a:xfrm>
            <a:custGeom>
              <a:avLst/>
              <a:gdLst/>
              <a:ahLst/>
              <a:cxnLst/>
              <a:rect l="l" t="t" r="r" b="b"/>
              <a:pathLst>
                <a:path w="13716000" h="1905000">
                  <a:moveTo>
                    <a:pt x="0" y="1905000"/>
                  </a:moveTo>
                  <a:cubicBezTo>
                    <a:pt x="4572000" y="0"/>
                    <a:pt x="9144000" y="0"/>
                    <a:pt x="13716000" y="1905000"/>
                  </a:cubicBezTo>
                </a:path>
              </a:pathLst>
            </a:custGeom>
            <a:noFill/>
            <a:ln w="7620">
              <a:solidFill>
                <a:schemeClr val="accent2">
                  <a:alpha val="30000"/>
                </a:scheme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4266" y="439102"/>
            <a:ext cx="10983468" cy="363855"/>
            <a:chOff x="604266" y="439102"/>
            <a:chExt cx="10983468" cy="363855"/>
          </a:xfrm>
        </p:grpSpPr>
        <p:sp>
          <p:nvSpPr>
            <p:cNvPr id="9" name="TextBox 9"/>
            <p:cNvSpPr txBox="1"/>
            <p:nvPr/>
          </p:nvSpPr>
          <p:spPr>
            <a:xfrm>
              <a:off x="604266" y="439102"/>
              <a:ext cx="2456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ISLAND · LIGHT · TERRAIN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66675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04907" y="4391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地理杂志旅行专题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56024" y="626745"/>
              <a:ext cx="10311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No. 01 / 冰岛专题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0550" y="2251710"/>
            <a:ext cx="7292340" cy="2438591"/>
            <a:chOff x="590550" y="2251710"/>
            <a:chExt cx="7292340" cy="2438591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2251710"/>
              <a:ext cx="101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4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ICELAND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836" y="2596515"/>
              <a:ext cx="33192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冰与火，光与影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0550" y="3068955"/>
              <a:ext cx="7292340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冰岛：光与地貌的旅行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88620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0456" y="4072890"/>
              <a:ext cx="3713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在纬度 64° 上，看光如何书写地貌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4426268"/>
              <a:ext cx="3858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Glacier Blue · Volcanic Black · Aurora Green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5238750"/>
            <a:ext cx="10972800" cy="1047750"/>
            <a:chOff x="609600" y="5238750"/>
            <a:chExt cx="109728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609600" y="5238750"/>
              <a:ext cx="10972800" cy="1047750"/>
            </a:xfrm>
            <a:prstGeom prst="roundRect">
              <a:avLst>
                <a:gd name="adj" fmla="val 3636"/>
              </a:avLst>
            </a:prstGeom>
            <a:solidFill>
              <a:schemeClr val="lt1">
                <a:alpha val="55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4290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2484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0678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94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970" y="566261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103,000 km²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288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22370" y="5662612"/>
              <a:ext cx="15661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≈ 37–40 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82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纬度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1770" y="5662612"/>
              <a:ext cx="16022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63°–67° 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676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64980" y="57435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冰与火之国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1333500"/>
            <a:ext cx="12192000" cy="3429000"/>
            <a:chOff x="0" y="1333500"/>
            <a:chExt cx="12192000" cy="3429000"/>
          </a:xfrm>
        </p:grpSpPr>
        <p:sp>
          <p:nvSpPr>
            <p:cNvPr id="2" name="Freeform 2"/>
            <p:cNvSpPr/>
            <p:nvPr/>
          </p:nvSpPr>
          <p:spPr>
            <a:xfrm>
              <a:off x="0" y="133350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0" y="381000"/>
                  </a:moveTo>
                  <a:cubicBezTo>
                    <a:pt x="1270000" y="0"/>
                    <a:pt x="2540000" y="0"/>
                    <a:pt x="3810000" y="381000"/>
                  </a:cubicBezTo>
                  <a:cubicBezTo>
                    <a:pt x="5080000" y="762000"/>
                    <a:pt x="6350000" y="762000"/>
                    <a:pt x="7620000" y="381000"/>
                  </a:cubicBezTo>
                  <a:cubicBezTo>
                    <a:pt x="8890000" y="0"/>
                    <a:pt x="10414000" y="0"/>
                    <a:pt x="12192000" y="381000"/>
                  </a:cubicBezTo>
                </a:path>
              </a:pathLst>
            </a:custGeom>
            <a:noFill/>
            <a:ln w="7620">
              <a:solidFill>
                <a:schemeClr val="accent1">
                  <a:alpha val="7000"/>
                </a:scheme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266700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0" y="381000"/>
                  </a:moveTo>
                  <a:cubicBezTo>
                    <a:pt x="1270000" y="0"/>
                    <a:pt x="2540000" y="0"/>
                    <a:pt x="3810000" y="381000"/>
                  </a:cubicBezTo>
                  <a:cubicBezTo>
                    <a:pt x="5080000" y="762000"/>
                    <a:pt x="6350000" y="762000"/>
                    <a:pt x="7620000" y="381000"/>
                  </a:cubicBezTo>
                  <a:cubicBezTo>
                    <a:pt x="8890000" y="0"/>
                    <a:pt x="10414000" y="0"/>
                    <a:pt x="12192000" y="381000"/>
                  </a:cubicBezTo>
                </a:path>
              </a:pathLst>
            </a:custGeom>
            <a:noFill/>
            <a:ln w="7620">
              <a:solidFill>
                <a:schemeClr val="accent1">
                  <a:alpha val="7000"/>
                </a:scheme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400050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0" y="381000"/>
                  </a:moveTo>
                  <a:cubicBezTo>
                    <a:pt x="1270000" y="0"/>
                    <a:pt x="2540000" y="0"/>
                    <a:pt x="3810000" y="381000"/>
                  </a:cubicBezTo>
                  <a:cubicBezTo>
                    <a:pt x="5080000" y="762000"/>
                    <a:pt x="6350000" y="762000"/>
                    <a:pt x="7620000" y="381000"/>
                  </a:cubicBezTo>
                  <a:cubicBezTo>
                    <a:pt x="8890000" y="0"/>
                    <a:pt x="10414000" y="0"/>
                    <a:pt x="12192000" y="381000"/>
                  </a:cubicBezTo>
                </a:path>
              </a:pathLst>
            </a:custGeom>
            <a:noFill/>
            <a:ln w="7620">
              <a:solidFill>
                <a:schemeClr val="accent1">
                  <a:alpha val="7000"/>
                </a:scheme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439102"/>
              <a:ext cx="847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MAP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0675" y="447199"/>
              <a:ext cx="12066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一张地图读懂冰岛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4360" y="914400"/>
            <a:ext cx="3859530" cy="741045"/>
            <a:chOff x="594360" y="914400"/>
            <a:chExt cx="3859530" cy="741045"/>
          </a:xfrm>
        </p:grpSpPr>
        <p:sp>
          <p:nvSpPr>
            <p:cNvPr id="10" name="TextBox 10"/>
            <p:cNvSpPr txBox="1"/>
            <p:nvPr/>
          </p:nvSpPr>
          <p:spPr>
            <a:xfrm>
              <a:off x="594360" y="9144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一张地图读懂冰岛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13620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欧洲第二大岛，位于北大西洋，靠近北极圈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42988" y="2206625"/>
            <a:ext cx="3262312" cy="2546826"/>
            <a:chOff x="1042988" y="2206625"/>
            <a:chExt cx="3262312" cy="2546826"/>
          </a:xfrm>
        </p:grpSpPr>
        <p:sp>
          <p:nvSpPr>
            <p:cNvPr id="13" name="Freeform 13"/>
            <p:cNvSpPr/>
            <p:nvPr/>
          </p:nvSpPr>
          <p:spPr>
            <a:xfrm>
              <a:off x="1295400" y="2206625"/>
              <a:ext cx="2784475" cy="2111375"/>
            </a:xfrm>
            <a:custGeom>
              <a:avLst/>
              <a:gdLst/>
              <a:ahLst/>
              <a:cxnLst/>
              <a:rect l="l" t="t" r="r" b="b"/>
              <a:pathLst>
                <a:path w="2784475" h="2111375">
                  <a:moveTo>
                    <a:pt x="133350" y="365125"/>
                  </a:moveTo>
                  <a:cubicBezTo>
                    <a:pt x="260350" y="174625"/>
                    <a:pt x="482600" y="63500"/>
                    <a:pt x="800100" y="31750"/>
                  </a:cubicBezTo>
                  <a:cubicBezTo>
                    <a:pt x="1117600" y="0"/>
                    <a:pt x="1435100" y="15875"/>
                    <a:pt x="1752600" y="79375"/>
                  </a:cubicBezTo>
                  <a:cubicBezTo>
                    <a:pt x="2006600" y="130175"/>
                    <a:pt x="2228850" y="209550"/>
                    <a:pt x="2419350" y="317500"/>
                  </a:cubicBezTo>
                  <a:cubicBezTo>
                    <a:pt x="2546350" y="412750"/>
                    <a:pt x="2641600" y="555625"/>
                    <a:pt x="2705100" y="746125"/>
                  </a:cubicBezTo>
                  <a:cubicBezTo>
                    <a:pt x="2768600" y="936625"/>
                    <a:pt x="2784475" y="1127125"/>
                    <a:pt x="2752725" y="1317625"/>
                  </a:cubicBezTo>
                  <a:cubicBezTo>
                    <a:pt x="2720975" y="1508125"/>
                    <a:pt x="2641600" y="1666875"/>
                    <a:pt x="2514600" y="1793875"/>
                  </a:cubicBezTo>
                  <a:cubicBezTo>
                    <a:pt x="2387600" y="1908175"/>
                    <a:pt x="2228850" y="1987550"/>
                    <a:pt x="2038350" y="2032000"/>
                  </a:cubicBezTo>
                  <a:cubicBezTo>
                    <a:pt x="1784350" y="2095500"/>
                    <a:pt x="1530350" y="2111375"/>
                    <a:pt x="1276350" y="2079625"/>
                  </a:cubicBezTo>
                  <a:cubicBezTo>
                    <a:pt x="1022350" y="2047875"/>
                    <a:pt x="800100" y="1984375"/>
                    <a:pt x="609600" y="1889125"/>
                  </a:cubicBezTo>
                  <a:cubicBezTo>
                    <a:pt x="419100" y="1793875"/>
                    <a:pt x="276225" y="1666875"/>
                    <a:pt x="180975" y="1508125"/>
                  </a:cubicBezTo>
                  <a:cubicBezTo>
                    <a:pt x="85725" y="1349375"/>
                    <a:pt x="31750" y="1158875"/>
                    <a:pt x="19050" y="936625"/>
                  </a:cubicBezTo>
                  <a:cubicBezTo>
                    <a:pt x="0" y="746125"/>
                    <a:pt x="22225" y="587375"/>
                    <a:pt x="85725" y="460375"/>
                  </a:cubicBezTo>
                  <a:close/>
                </a:path>
              </a:pathLst>
            </a:custGeom>
            <a:solidFill>
              <a:srgbClr val="1B263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87500" y="2587625"/>
              <a:ext cx="2206625" cy="1301750"/>
            </a:xfrm>
            <a:custGeom>
              <a:avLst/>
              <a:gdLst/>
              <a:ahLst/>
              <a:cxnLst/>
              <a:rect l="l" t="t" r="r" b="b"/>
              <a:pathLst>
                <a:path w="2206625" h="1301750">
                  <a:moveTo>
                    <a:pt x="31750" y="174625"/>
                  </a:moveTo>
                  <a:cubicBezTo>
                    <a:pt x="349250" y="47625"/>
                    <a:pt x="730250" y="0"/>
                    <a:pt x="1174750" y="31750"/>
                  </a:cubicBezTo>
                  <a:cubicBezTo>
                    <a:pt x="1555750" y="63500"/>
                    <a:pt x="1841500" y="142875"/>
                    <a:pt x="2032000" y="269875"/>
                  </a:cubicBezTo>
                  <a:cubicBezTo>
                    <a:pt x="2159000" y="396875"/>
                    <a:pt x="2206625" y="555625"/>
                    <a:pt x="2174875" y="746125"/>
                  </a:cubicBezTo>
                  <a:cubicBezTo>
                    <a:pt x="2111375" y="936625"/>
                    <a:pt x="2000250" y="1079500"/>
                    <a:pt x="1841500" y="1174750"/>
                  </a:cubicBezTo>
                  <a:cubicBezTo>
                    <a:pt x="1587500" y="1270000"/>
                    <a:pt x="1301750" y="1301750"/>
                    <a:pt x="984250" y="1270000"/>
                  </a:cubicBezTo>
                  <a:cubicBezTo>
                    <a:pt x="666750" y="1238250"/>
                    <a:pt x="412750" y="1174750"/>
                    <a:pt x="222250" y="1079500"/>
                  </a:cubicBezTo>
                  <a:cubicBezTo>
                    <a:pt x="95250" y="952500"/>
                    <a:pt x="25400" y="809625"/>
                    <a:pt x="12700" y="650875"/>
                  </a:cubicBezTo>
                  <a:cubicBezTo>
                    <a:pt x="0" y="492125"/>
                    <a:pt x="6350" y="333375"/>
                    <a:pt x="31750" y="174625"/>
                  </a:cubicBezTo>
                  <a:close/>
                </a:path>
              </a:pathLst>
            </a:custGeom>
            <a:noFill/>
            <a:ln w="762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43075" y="2819400"/>
              <a:ext cx="1806575" cy="974725"/>
            </a:xfrm>
            <a:custGeom>
              <a:avLst/>
              <a:gdLst/>
              <a:ahLst/>
              <a:cxnLst/>
              <a:rect l="l" t="t" r="r" b="b"/>
              <a:pathLst>
                <a:path w="1806575" h="974725">
                  <a:moveTo>
                    <a:pt x="66675" y="133350"/>
                  </a:moveTo>
                  <a:cubicBezTo>
                    <a:pt x="384175" y="38100"/>
                    <a:pt x="701675" y="0"/>
                    <a:pt x="1019175" y="19050"/>
                  </a:cubicBezTo>
                  <a:cubicBezTo>
                    <a:pt x="1336675" y="44450"/>
                    <a:pt x="1558925" y="114300"/>
                    <a:pt x="1685925" y="228600"/>
                  </a:cubicBezTo>
                  <a:cubicBezTo>
                    <a:pt x="1781175" y="355600"/>
                    <a:pt x="1806575" y="498475"/>
                    <a:pt x="1762125" y="657225"/>
                  </a:cubicBezTo>
                  <a:cubicBezTo>
                    <a:pt x="1679575" y="784225"/>
                    <a:pt x="1543050" y="869950"/>
                    <a:pt x="1352550" y="914400"/>
                  </a:cubicBezTo>
                  <a:cubicBezTo>
                    <a:pt x="1098550" y="965200"/>
                    <a:pt x="844550" y="974725"/>
                    <a:pt x="590550" y="942975"/>
                  </a:cubicBezTo>
                  <a:cubicBezTo>
                    <a:pt x="368300" y="898525"/>
                    <a:pt x="209550" y="819150"/>
                    <a:pt x="114300" y="704850"/>
                  </a:cubicBezTo>
                  <a:cubicBezTo>
                    <a:pt x="31750" y="577850"/>
                    <a:pt x="0" y="450850"/>
                    <a:pt x="19050" y="323850"/>
                  </a:cubicBezTo>
                  <a:cubicBezTo>
                    <a:pt x="31750" y="247650"/>
                    <a:pt x="47625" y="184150"/>
                    <a:pt x="66675" y="133350"/>
                  </a:cubicBezTo>
                  <a:close/>
                </a:path>
              </a:pathLst>
            </a:custGeom>
            <a:noFill/>
            <a:ln w="7620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73375" y="3206750"/>
              <a:ext cx="809625" cy="619125"/>
            </a:xfrm>
            <a:custGeom>
              <a:avLst/>
              <a:gdLst/>
              <a:ahLst/>
              <a:cxnLst/>
              <a:rect l="l" t="t" r="r" b="b"/>
              <a:pathLst>
                <a:path w="809625" h="619125">
                  <a:moveTo>
                    <a:pt x="79375" y="31750"/>
                  </a:moveTo>
                  <a:cubicBezTo>
                    <a:pt x="333375" y="0"/>
                    <a:pt x="555625" y="31750"/>
                    <a:pt x="746125" y="127000"/>
                  </a:cubicBezTo>
                  <a:cubicBezTo>
                    <a:pt x="809625" y="254000"/>
                    <a:pt x="809625" y="381000"/>
                    <a:pt x="746125" y="508000"/>
                  </a:cubicBezTo>
                  <a:cubicBezTo>
                    <a:pt x="555625" y="603250"/>
                    <a:pt x="365125" y="619125"/>
                    <a:pt x="174625" y="555625"/>
                  </a:cubicBezTo>
                  <a:cubicBezTo>
                    <a:pt x="47625" y="460375"/>
                    <a:pt x="0" y="349250"/>
                    <a:pt x="31750" y="222250"/>
                  </a:cubicBezTo>
                  <a:close/>
                </a:path>
              </a:pathLst>
            </a:custGeom>
            <a:solidFill>
              <a:schemeClr val="accent1">
                <a:alpha val="35000"/>
              </a:schemeClr>
            </a:solidFill>
            <a:ln w="762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476375" y="3286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428750" y="3238500"/>
              <a:ext cx="190500" cy="190500"/>
            </a:xfrm>
            <a:prstGeom prst="ellipse">
              <a:avLst/>
            </a:prstGeom>
            <a:noFill/>
            <a:ln w="762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343150" y="2343150"/>
              <a:ext cx="76200" cy="76200"/>
            </a:xfrm>
            <a:prstGeom prst="ellipse">
              <a:avLst/>
            </a:prstGeom>
            <a:solidFill>
              <a:srgbClr val="9FB0BC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343025" y="37719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8227" y="3486626"/>
              <a:ext cx="382447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Vatnajökull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4488" y="3315176"/>
              <a:ext cx="322995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Reykjavik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52688" y="2362676"/>
              <a:ext cx="302090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Akureyri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2988" y="3848576"/>
              <a:ext cx="340606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Reykjanes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4076700" y="4362926"/>
              <a:ext cx="228600" cy="323374"/>
              <a:chOff x="4076700" y="4362926"/>
              <a:chExt cx="228600" cy="323374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076700" y="4457700"/>
                <a:ext cx="228600" cy="228600"/>
              </a:xfrm>
              <a:prstGeom prst="ellipse">
                <a:avLst/>
              </a:prstGeom>
              <a:noFill/>
              <a:ln w="7620">
                <a:solidFill>
                  <a:srgbClr val="9FB0BC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4191000" y="44577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4288">
                <a:solidFill>
                  <a:schemeClr val="dk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165897" y="4362926"/>
                <a:ext cx="50206" cy="10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1333500" y="4572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333500" y="454342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95500" y="454342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95984" y="4648676"/>
              <a:ext cx="237033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 km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0" y="1809750"/>
            <a:ext cx="5905500" cy="4381500"/>
            <a:chOff x="5715000" y="1809750"/>
            <a:chExt cx="5905500" cy="4381500"/>
          </a:xfrm>
        </p:grpSpPr>
        <p:sp>
          <p:nvSpPr>
            <p:cNvPr id="34" name="Rectangle 34"/>
            <p:cNvSpPr/>
            <p:nvPr/>
          </p:nvSpPr>
          <p:spPr>
            <a:xfrm>
              <a:off x="5715000" y="1809750"/>
              <a:ext cx="5905500" cy="4381500"/>
            </a:xfrm>
            <a:prstGeom prst="roundRect">
              <a:avLst>
                <a:gd name="adj" fmla="val 87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38647" y="2037874"/>
              <a:ext cx="17029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FACTS · 关键数据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43600" y="2238375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38647" y="2466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国土面积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30646" y="2677478"/>
              <a:ext cx="21885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103,000 km²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6166" y="274415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约德国面积 1/4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38647" y="3228499"/>
              <a:ext cx="8278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人口（2024）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30646" y="3439478"/>
              <a:ext cx="18650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372,520 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6166" y="3506152"/>
              <a:ext cx="1233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密度仅 3.7 人/km²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38647" y="3990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纬度范围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30646" y="4201478"/>
              <a:ext cx="1815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63°–67° 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6166" y="42681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完全处于极光卵内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38647" y="4752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地理位置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36742" y="5045392"/>
              <a:ext cx="2154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北大西洋 · 欧洲第二大岛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6166" y="5077778"/>
              <a:ext cx="1233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距伦敦约 3,000 km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38647" y="54668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首都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36742" y="5740718"/>
              <a:ext cx="2308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雷克雅未克（Reykjavik）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86166" y="5773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世界最北首都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gradFill>
            <a:gsLst>
              <a:gs pos="0">
                <a:schemeClr val="accent2">
                  <a:alpha val="22000"/>
                </a:schemeClr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1894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AURORA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989158" y="447199"/>
              <a:ext cx="598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光的纬度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3810000" cy="741045"/>
            <a:chOff x="594360" y="914400"/>
            <a:chExt cx="3810000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极光为何在此出现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380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磁纬度 64.7°N — 整个岛都在极光卵之内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23850" y="2651125"/>
            <a:ext cx="4000500" cy="1612741"/>
            <a:chOff x="323850" y="2651125"/>
            <a:chExt cx="4000500" cy="1612741"/>
          </a:xfrm>
        </p:grpSpPr>
        <p:grpSp>
          <p:nvGrpSpPr>
            <p:cNvPr id="21" name="Group 21"/>
            <p:cNvGrpSpPr/>
            <p:nvPr/>
          </p:nvGrpSpPr>
          <p:grpSpPr>
            <a:xfrm>
              <a:off x="323850" y="2651125"/>
              <a:ext cx="4000500" cy="1612741"/>
              <a:chOff x="323850" y="2651125"/>
              <a:chExt cx="4000500" cy="161274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09600" y="3079750"/>
                <a:ext cx="3429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635000">
                    <a:moveTo>
                      <a:pt x="0" y="635000"/>
                    </a:moveTo>
                    <a:cubicBezTo>
                      <a:pt x="1143000" y="0"/>
                      <a:pt x="2286000" y="0"/>
                      <a:pt x="3429000" y="635000"/>
                    </a:cubicBezTo>
                  </a:path>
                </a:pathLst>
              </a:custGeom>
              <a:noFill/>
              <a:ln w="14288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23850" y="2651125"/>
                <a:ext cx="4000500" cy="920750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920750">
                    <a:moveTo>
                      <a:pt x="0" y="920750"/>
                    </a:moveTo>
                    <a:cubicBezTo>
                      <a:pt x="1333500" y="0"/>
                      <a:pt x="2667000" y="0"/>
                      <a:pt x="4000500" y="920750"/>
                    </a:cubicBezTo>
                  </a:path>
                </a:pathLst>
              </a:custGeom>
              <a:noFill/>
              <a:ln w="19050">
                <a:solidFill>
                  <a:schemeClr val="accent2">
                    <a:alpha val="80000"/>
                  </a:schemeClr>
                </a:solidFill>
                <a:custDash>
                  <a:ds d="300000" sp="200000"/>
                </a:custDash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590675" y="3295650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524000" y="3228975"/>
                <a:ext cx="266700" cy="2667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85747" y="3209449"/>
                <a:ext cx="60067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Reykjavik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85938" y="3369945"/>
                <a:ext cx="4319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64.7°N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514600" y="3019425"/>
                <a:ext cx="95250" cy="95250"/>
              </a:xfrm>
              <a:prstGeom prst="ellipse">
                <a:avLst/>
              </a:prstGeom>
              <a:solidFill>
                <a:srgbClr val="9FB0BC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652712" y="2931795"/>
                <a:ext cx="51588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Akureyri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52712" y="3073241"/>
                <a:ext cx="3302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~67°N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31721" y="3903345"/>
                <a:ext cx="11847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极光卵 · aurora oval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31171" y="4101941"/>
                <a:ext cx="158585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A6B78"/>
                    </a:solidFill>
                    <a:latin typeface="+mn-lt"/>
                    <a:ea typeface="+mn-ea"/>
                    <a:cs typeface="+mn-cs"/>
                  </a:rPr>
                  <a:t>Iceland sits entirely within it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5143500" y="1809750"/>
            <a:ext cx="6477000" cy="1591056"/>
            <a:chOff x="5143500" y="1809750"/>
            <a:chExt cx="6477000" cy="1591056"/>
          </a:xfrm>
        </p:grpSpPr>
        <p:sp>
          <p:nvSpPr>
            <p:cNvPr id="23" name="Rectangle 23"/>
            <p:cNvSpPr/>
            <p:nvPr/>
          </p:nvSpPr>
          <p:spPr>
            <a:xfrm>
              <a:off x="5143500" y="1809750"/>
              <a:ext cx="6477000" cy="152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67147" y="1990249"/>
              <a:ext cx="20527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ICELAND · 为何是冰岛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372100" y="219075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64480" y="2333625"/>
              <a:ext cx="3215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太阳风粒子被地球磁场引导至极区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66004" y="2680335"/>
              <a:ext cx="3886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冰岛位于磁纬度 63°–67°N，完全落入极光卵范围。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66004" y="2937510"/>
              <a:ext cx="4194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北方城市磁纬度接近 67°N，即使微弱极光也清晰可见。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66004" y="3166110"/>
              <a:ext cx="4040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雷克雅未克约 64.7°N，极光频率高于欧洲同级纬度。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0" y="3429000"/>
            <a:ext cx="6477000" cy="1428750"/>
            <a:chOff x="5143500" y="3429000"/>
            <a:chExt cx="64770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5143500" y="3429000"/>
              <a:ext cx="6477000" cy="142875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67147" y="3609499"/>
              <a:ext cx="12757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WHEN · 何时可见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372100" y="38100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66004" y="39852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最佳季节：11 月 — 次年 3 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66004" y="4271010"/>
              <a:ext cx="4180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月–2 月光影效果最佳；秋分后蓝调与极光可先后出现。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66004" y="453771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晴夜是关键：云量少时单次观测成功率约 80%。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43500" y="4953000"/>
            <a:ext cx="6477000" cy="1428750"/>
            <a:chOff x="5143500" y="4953000"/>
            <a:chExt cx="6477000" cy="1428750"/>
          </a:xfrm>
        </p:grpSpPr>
        <p:sp>
          <p:nvSpPr>
            <p:cNvPr id="38" name="Rectangle 38"/>
            <p:cNvSpPr/>
            <p:nvPr/>
          </p:nvSpPr>
          <p:spPr>
            <a:xfrm>
              <a:off x="5143500" y="4953000"/>
              <a:ext cx="6477000" cy="1428750"/>
            </a:xfrm>
            <a:prstGeom prst="roundRect">
              <a:avLst>
                <a:gd name="adj" fmla="val 2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67147" y="5133499"/>
              <a:ext cx="1205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HOW · 如何观测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372100" y="53340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66004" y="5509260"/>
              <a:ext cx="3558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远离城市光污染，向郊外 20–40 km 开阔地寻找。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66004" y="5795010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晴夜每小时都有机会，三脚架 + 长曝光（10–20 秒）最佳。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4" name="TextBox 4"/>
            <p:cNvSpPr txBox="1"/>
            <p:nvPr/>
          </p:nvSpPr>
          <p:spPr>
            <a:xfrm>
              <a:off x="604266" y="439102"/>
              <a:ext cx="11894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SEASON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9158" y="447199"/>
              <a:ext cx="598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光的季节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4360" y="914400"/>
            <a:ext cx="3870960" cy="741045"/>
            <a:chOff x="594360" y="914400"/>
            <a:chExt cx="3870960" cy="741045"/>
          </a:xfrm>
        </p:grpSpPr>
        <p:sp>
          <p:nvSpPr>
            <p:cNvPr id="8" name="TextBox 8"/>
            <p:cNvSpPr txBox="1"/>
            <p:nvPr/>
          </p:nvSpPr>
          <p:spPr>
            <a:xfrm>
              <a:off x="594360" y="91440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午夜阳光与蓝调时刻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1362075"/>
              <a:ext cx="3108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 64°N，光是随季节轮转的主角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4850" y="2000250"/>
            <a:ext cx="3619500" cy="3619500"/>
            <a:chOff x="704850" y="2000250"/>
            <a:chExt cx="3619500" cy="3619500"/>
          </a:xfrm>
        </p:grpSpPr>
        <p:sp>
          <p:nvSpPr>
            <p:cNvPr id="11" name="Ellipse 11"/>
            <p:cNvSpPr/>
            <p:nvPr/>
          </p:nvSpPr>
          <p:spPr>
            <a:xfrm>
              <a:off x="704850" y="2000250"/>
              <a:ext cx="3619500" cy="3619500"/>
            </a:xfrm>
            <a:prstGeom prst="ellipse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14600" y="20002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04850" y="3810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14600" y="200025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0" y="0"/>
                  </a:moveTo>
                  <a:cubicBezTo>
                    <a:pt x="999497" y="0"/>
                    <a:pt x="1809750" y="810253"/>
                    <a:pt x="1809750" y="1809750"/>
                  </a:cubicBezTo>
                </a:path>
              </a:pathLst>
            </a:custGeom>
            <a:noFill/>
            <a:ln w="28575">
              <a:solidFill>
                <a:schemeClr val="accent3">
                  <a:alpha val="8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07664" y="2934652"/>
              <a:ext cx="309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夏季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36474" y="3141345"/>
              <a:ext cx="4517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6月–8月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62949" y="332089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极昼 · 午夜阳光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14600" y="381000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1809750" y="0"/>
                  </a:moveTo>
                  <a:cubicBezTo>
                    <a:pt x="1809750" y="999497"/>
                    <a:pt x="999497" y="1809750"/>
                    <a:pt x="0" y="1809750"/>
                  </a:cubicBezTo>
                </a:path>
              </a:pathLst>
            </a:custGeom>
            <a:noFill/>
            <a:ln w="28575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07664" y="4363402"/>
              <a:ext cx="309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秋季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3156" y="45700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9月–10月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2561" y="47496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蓝调时刻 · 极光初现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04850" y="381000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1809750" y="1809750"/>
                  </a:moveTo>
                  <a:cubicBezTo>
                    <a:pt x="810253" y="1809750"/>
                    <a:pt x="0" y="999497"/>
                    <a:pt x="0" y="0"/>
                  </a:cubicBezTo>
                </a:path>
              </a:pathLst>
            </a:custGeom>
            <a:noFill/>
            <a:ln w="28575">
              <a:solidFill>
                <a:schemeClr val="accent2">
                  <a:alpha val="80000"/>
                </a:scheme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12164" y="4363402"/>
              <a:ext cx="309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冬季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07656" y="45700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11月–3月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2643" y="4749641"/>
              <a:ext cx="6884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极光 · 蓝冰洞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04850" y="2000250"/>
              <a:ext cx="1809750" cy="1809750"/>
            </a:xfrm>
            <a:custGeom>
              <a:avLst/>
              <a:gdLst/>
              <a:ahLst/>
              <a:cxnLst/>
              <a:rect l="l" t="t" r="r" b="b"/>
              <a:pathLst>
                <a:path w="1809750" h="1809750">
                  <a:moveTo>
                    <a:pt x="0" y="1809750"/>
                  </a:moveTo>
                  <a:cubicBezTo>
                    <a:pt x="0" y="810253"/>
                    <a:pt x="810253" y="0"/>
                    <a:pt x="1809750" y="0"/>
                  </a:cubicBezTo>
                </a:path>
              </a:pathLst>
            </a:custGeom>
            <a:noFill/>
            <a:ln w="28575">
              <a:solidFill>
                <a:srgbClr val="9FB0BC">
                  <a:alpha val="6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12164" y="2934652"/>
              <a:ext cx="309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春季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40974" y="3141345"/>
              <a:ext cx="4517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4月–5月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7449" y="332089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过渡 · 高性价比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990725" y="3286125"/>
              <a:ext cx="1047750" cy="1047750"/>
            </a:xfrm>
            <a:prstGeom prst="ellipse">
              <a:avLst/>
            </a:prstGeom>
            <a:solidFill>
              <a:schemeClr val="lt1"/>
            </a:solidFill>
            <a:ln w="1143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370252" y="3657124"/>
              <a:ext cx="288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光的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70252" y="3847624"/>
              <a:ext cx="288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轮转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1905000"/>
            <a:ext cx="6858000" cy="4572000"/>
            <a:chOff x="4762500" y="1905000"/>
            <a:chExt cx="6858000" cy="4572000"/>
          </a:xfrm>
        </p:grpSpPr>
        <p:sp>
          <p:nvSpPr>
            <p:cNvPr id="34" name="Rectangle 34"/>
            <p:cNvSpPr/>
            <p:nvPr/>
          </p:nvSpPr>
          <p:spPr>
            <a:xfrm>
              <a:off x="4762500" y="1905000"/>
              <a:ext cx="6858000" cy="1095375"/>
            </a:xfrm>
            <a:prstGeom prst="roundRect">
              <a:avLst>
                <a:gd name="adj" fmla="val 3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762500" y="1905000"/>
              <a:ext cx="38100" cy="10953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86147" y="2085499"/>
              <a:ext cx="1499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SUMMER · 夏季极昼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3480" y="2333625"/>
              <a:ext cx="2249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午夜阳光，24 小时白昼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85004" y="2651760"/>
              <a:ext cx="5658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6–8 月太阳几乎不落山，午夜金色低角光洒向苔原；可环岛、徒步、冰川攀爬。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62500" y="3143250"/>
              <a:ext cx="6858000" cy="1095375"/>
            </a:xfrm>
            <a:prstGeom prst="roundRect">
              <a:avLst>
                <a:gd name="adj" fmla="val 3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762500" y="3143250"/>
              <a:ext cx="38100" cy="1095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86147" y="3323749"/>
              <a:ext cx="1471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AUTUMN · 蓝调时刻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83480" y="3571875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蓝色暮光与初现极光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85004" y="3890010"/>
              <a:ext cx="6304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9–10 月白昼缩短，日落后的蓝色暮光（blue hour）效果最佳；同年秋季已可偶见极光。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62500" y="4381500"/>
              <a:ext cx="6858000" cy="1095375"/>
            </a:xfrm>
            <a:prstGeom prst="roundRect">
              <a:avLst>
                <a:gd name="adj" fmla="val 3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62500" y="4381500"/>
              <a:ext cx="38100" cy="1095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986147" y="4561999"/>
              <a:ext cx="1276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WINTER · 极光季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3480" y="4810125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白昼极短，黑夜漫长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85004" y="5128260"/>
              <a:ext cx="5852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11–3 月白昼仅数小时；极光观测成功率约 80%（云量少时）；12–2 月光影最佳。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762500" y="5619750"/>
              <a:ext cx="6858000" cy="857250"/>
            </a:xfrm>
            <a:prstGeom prst="roundRect">
              <a:avLst>
                <a:gd name="adj" fmla="val 4444"/>
              </a:avLst>
            </a:prstGeom>
            <a:solidFill>
              <a:srgbClr val="1B2630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86147" y="5800249"/>
              <a:ext cx="810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⚠ 天气提示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85004" y="6061710"/>
              <a:ext cx="5335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冰岛天气多变，大风阵雨常见；备防风防水冲锋衣，关注 safetravel.is。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39102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ICE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228555" y="447199"/>
              <a:ext cx="1358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冰：瓦特纳与冰河湖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4360" y="914400"/>
            <a:ext cx="4101846" cy="741045"/>
            <a:chOff x="594360" y="914400"/>
            <a:chExt cx="4101846" cy="741045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91440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冰盖之下的蓝色王国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6207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瓦特纳冰川 7,700 km²，欧洲体积最大的冰川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809750"/>
            <a:ext cx="5334000" cy="3810000"/>
            <a:chOff x="609600" y="1809750"/>
            <a:chExt cx="5334000" cy="38100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4286" r="0" b="14285"/>
            <a:stretch>
              <a:fillRect/>
            </a:stretch>
          </p:blipFill>
          <p:spPr>
            <a:xfrm>
              <a:off x="609600" y="1809750"/>
              <a:ext cx="5334000" cy="38100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1809750"/>
              <a:ext cx="5334000" cy="3810000"/>
            </a:xfrm>
            <a:prstGeom prst="rect">
              <a:avLst/>
            </a:prstGeom>
            <a:gradFill>
              <a:gsLst>
                <a:gs pos="0">
                  <a:schemeClr val="lt1">
                    <a:alpha val="15000"/>
                  </a:schemeClr>
                </a:gs>
                <a:gs pos="100000">
                  <a:schemeClr val="lt1">
                    <a:alpha val="7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5228749"/>
              <a:ext cx="2094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VATNAJÖKULL · 瓦特纳冰川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5411152"/>
              <a:ext cx="3162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覆盖冰岛东南部 7,700 km²，冰厚最高达 1,000 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48400" y="1809750"/>
            <a:ext cx="5334000" cy="3810000"/>
            <a:chOff x="6248400" y="1809750"/>
            <a:chExt cx="5334000" cy="381000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rcRect l="0" t="14286" r="0" b="14285"/>
            <a:stretch>
              <a:fillRect/>
            </a:stretch>
          </p:blipFill>
          <p:spPr>
            <a:xfrm>
              <a:off x="6248400" y="1809750"/>
              <a:ext cx="5334000" cy="3810000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6248400" y="1809750"/>
              <a:ext cx="5334000" cy="3810000"/>
            </a:xfrm>
            <a:prstGeom prst="rect">
              <a:avLst/>
            </a:prstGeom>
            <a:gradFill>
              <a:gsLst>
                <a:gs pos="0">
                  <a:schemeClr val="lt1">
                    <a:alpha val="15000"/>
                  </a:schemeClr>
                </a:gs>
                <a:gs pos="100000">
                  <a:schemeClr val="lt1">
                    <a:alpha val="7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95847" y="5228749"/>
              <a:ext cx="2416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JÖKULSÁRLÓN · 杰古沙龙冰河湖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5466" y="54111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冰山源自瓦特纳冰盖，漂浮于冰冷湖面上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810250"/>
            <a:ext cx="10972800" cy="647700"/>
            <a:chOff x="609600" y="5810250"/>
            <a:chExt cx="10972800" cy="647700"/>
          </a:xfrm>
        </p:grpSpPr>
        <p:sp>
          <p:nvSpPr>
            <p:cNvPr id="19" name="Rectangle 19"/>
            <p:cNvSpPr/>
            <p:nvPr/>
          </p:nvSpPr>
          <p:spPr>
            <a:xfrm>
              <a:off x="609600" y="5810250"/>
              <a:ext cx="10972800" cy="6477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429000" y="59055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48400" y="59055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067800" y="59055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9638" y="59988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494" y="6075998"/>
              <a:ext cx="13704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7,700 km²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9038" y="5998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最大冰厚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3894" y="6075998"/>
              <a:ext cx="10672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1,000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8438" y="59988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5580" y="6124575"/>
              <a:ext cx="1722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欧洲体积最大冰川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67838" y="59988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冰河湖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64980" y="61245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杰古沙龙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39102"/>
              <a:ext cx="1303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· JOURNEY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837037" y="447199"/>
              <a:ext cx="750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碎冰的旅程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4360" y="914400"/>
            <a:ext cx="4283583" cy="741045"/>
            <a:chOff x="594360" y="914400"/>
            <a:chExt cx="4283583" cy="741045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9144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一块冰，能走多远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62075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从冰盖到冰河湖，再到黑沙滩——碎冰的完整路径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809750"/>
            <a:ext cx="5715000" cy="4381500"/>
            <a:chOff x="609600" y="1809750"/>
            <a:chExt cx="5715000" cy="4381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1666" r="0" b="11667"/>
            <a:stretch>
              <a:fillRect/>
            </a:stretch>
          </p:blipFill>
          <p:spPr>
            <a:xfrm>
              <a:off x="609600" y="1809750"/>
              <a:ext cx="5715000" cy="43815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1809750"/>
              <a:ext cx="5715000" cy="4381500"/>
            </a:xfrm>
            <a:prstGeom prst="rect">
              <a:avLst/>
            </a:prstGeom>
            <a:gradFill>
              <a:gsLst>
                <a:gs pos="0">
                  <a:schemeClr val="lt1">
                    <a:alpha val="20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147" y="5800249"/>
              <a:ext cx="22766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DIAMOND BEACH · 钻石黑沙滩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5982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雷克雅内斯半岛南岸，黑色沙滩上的碎冰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67297" y="1990249"/>
            <a:ext cx="4767453" cy="3476815"/>
            <a:chOff x="6567297" y="1990249"/>
            <a:chExt cx="4767453" cy="3476815"/>
          </a:xfrm>
        </p:grpSpPr>
        <p:sp>
          <p:nvSpPr>
            <p:cNvPr id="14" name="TextBox 14"/>
            <p:cNvSpPr txBox="1"/>
            <p:nvPr/>
          </p:nvSpPr>
          <p:spPr>
            <a:xfrm>
              <a:off x="6567297" y="1990249"/>
              <a:ext cx="14189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碎冰旅程 · 三段路径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572250" y="2190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800850" y="251460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41642" y="2387918"/>
              <a:ext cx="1145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① 瓦特纳冰盖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2785" y="265985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冰川末端崩解，碎冰坠入杰古沙龙冰河湖。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00850" y="33718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41642" y="3245168"/>
              <a:ext cx="1529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② 冰河湖与出海口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2785" y="351710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冰山随潮汐漂出，在阳光与海浪中慢慢崩解。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00850" y="4229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41642" y="4102418"/>
              <a:ext cx="1145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③ 钻石黑沙滩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2785" y="437435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碎冰被浪推上黑沙，晶莹如钻石，季节性出露。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3547" y="50382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碎片从冰盖到海滩，往往经历数月至数年。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3547" y="527637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冰的颜色在夏季与冬季交替变化，最具观赏性。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25000"/>
                </a:schemeClr>
              </a:gs>
              <a:gs pos="100000">
                <a:schemeClr val="accent3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893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· FIRE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3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32796" y="447199"/>
              <a:ext cx="1054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火：雷克雅尼斯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4980242" cy="741045"/>
            <a:chOff x="594360" y="914400"/>
            <a:chExt cx="4980242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2590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地底仍在呼吸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4972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雷克雅尼斯火山区 2021–2024 连续喷发，熔岩一路向北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5295900" cy="4191000"/>
            <a:chOff x="609600" y="1809750"/>
            <a:chExt cx="5295900" cy="4191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10432" r="0" b="10431"/>
            <a:stretch>
              <a:fillRect/>
            </a:stretch>
          </p:blipFill>
          <p:spPr>
            <a:xfrm>
              <a:off x="609600" y="1809750"/>
              <a:ext cx="5295900" cy="4191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09600" y="1809750"/>
              <a:ext cx="5295900" cy="4191000"/>
            </a:xfrm>
            <a:prstGeom prst="rect">
              <a:avLst/>
            </a:prstGeom>
            <a:gradFill>
              <a:gsLst>
                <a:gs pos="0">
                  <a:schemeClr val="lt1">
                    <a:alpha val="20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147" y="5609749"/>
              <a:ext cx="23807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REYKJANES · 雷克雅尼斯火山区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5792152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 年以来冰岛第三次火山活动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1057" y="1990249"/>
            <a:ext cx="5224188" cy="3042285"/>
            <a:chOff x="6171057" y="1990249"/>
            <a:chExt cx="5224188" cy="3042285"/>
          </a:xfrm>
        </p:grpSpPr>
        <p:sp>
          <p:nvSpPr>
            <p:cNvPr id="15" name="TextBox 15"/>
            <p:cNvSpPr txBox="1"/>
            <p:nvPr/>
          </p:nvSpPr>
          <p:spPr>
            <a:xfrm>
              <a:off x="6186297" y="1990249"/>
              <a:ext cx="1797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喷发时间线 · 2021–2024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191250" y="2190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381750" y="3143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791325" y="30765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9086" y="286654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2021.09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71057" y="3307556"/>
              <a:ext cx="1373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Fagradalsfjall 喷发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124825" y="30765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32586" y="286654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2022.11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3462" y="3307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首次熔岩涌出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458325" y="30765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66086" y="286654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2023.01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6060" y="3307556"/>
              <a:ext cx="977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新喷口 Kvatir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10791825" y="30765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94836" y="286654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2024.01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21756" y="3307556"/>
              <a:ext cx="1073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Holuhraun 喷发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91250" y="3810000"/>
              <a:ext cx="5143500" cy="590550"/>
            </a:xfrm>
            <a:prstGeom prst="roundRect">
              <a:avLst>
                <a:gd name="adj" fmla="val 645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6604" y="3918585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熔岩抵达格里达维克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6985" y="4145756"/>
              <a:ext cx="3863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2024.1.14 起，熔岩沿冰川外侧通道推进至约 25 km 外。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91250" y="4495800"/>
              <a:ext cx="5143500" cy="533400"/>
            </a:xfrm>
            <a:prstGeom prst="roundRect">
              <a:avLst>
                <a:gd name="adj" fmla="val 7143"/>
              </a:avLst>
            </a:prstGeom>
            <a:solidFill>
              <a:srgbClr val="1B263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6985" y="4612481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这是 1973 年斯奈菲尔火山的百年喷发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985" y="4812506"/>
              <a:ext cx="4353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雷克雅尼斯 1973 年以来首次持续活动，是冰岛活火山最活跃区。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39102"/>
              <a:ext cx="1913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· GOLDEN CIRCLE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228555" y="447199"/>
              <a:ext cx="1358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黄金圈三大地质剧场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4360" y="914400"/>
            <a:ext cx="4869180" cy="741045"/>
            <a:chOff x="594360" y="914400"/>
            <a:chExt cx="4869180" cy="741045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914400"/>
              <a:ext cx="2164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一日黄金圈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620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雷克雅未克出发的三处地质现场，一天即可走完整动线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809750"/>
            <a:ext cx="5334000" cy="3619500"/>
            <a:chOff x="609600" y="1809750"/>
            <a:chExt cx="5334000" cy="3619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6072" r="0" b="16071"/>
            <a:stretch>
              <a:fillRect/>
            </a:stretch>
          </p:blipFill>
          <p:spPr>
            <a:xfrm>
              <a:off x="609600" y="1809750"/>
              <a:ext cx="5334000" cy="36195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" y="1809750"/>
              <a:ext cx="5334000" cy="3619500"/>
            </a:xfrm>
            <a:prstGeom prst="rect">
              <a:avLst/>
            </a:prstGeom>
            <a:gradFill>
              <a:gsLst>
                <a:gs pos="0">
                  <a:schemeClr val="lt1">
                    <a:alpha val="15000"/>
                  </a:schemeClr>
                </a:gs>
                <a:gs pos="100000">
                  <a:schemeClr val="lt1">
                    <a:alpha val="7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147" y="5038249"/>
              <a:ext cx="1667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GULLFOSS · 黄金瀑布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5220652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两级落差 31–32 m，每秒约 10 万吨冰川融水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48400" y="1809750"/>
            <a:ext cx="5334000" cy="3619500"/>
            <a:chOff x="6248400" y="1809750"/>
            <a:chExt cx="5334000" cy="361950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rcRect l="0" t="16072" r="0" b="16071"/>
            <a:stretch>
              <a:fillRect/>
            </a:stretch>
          </p:blipFill>
          <p:spPr>
            <a:xfrm>
              <a:off x="6248400" y="1809750"/>
              <a:ext cx="5334000" cy="3619500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6248400" y="1809750"/>
              <a:ext cx="5334000" cy="3619500"/>
            </a:xfrm>
            <a:prstGeom prst="rect">
              <a:avLst/>
            </a:prstGeom>
            <a:gradFill>
              <a:gsLst>
                <a:gs pos="0">
                  <a:schemeClr val="lt1">
                    <a:alpha val="15000"/>
                  </a:schemeClr>
                </a:gs>
                <a:gs pos="100000">
                  <a:schemeClr val="lt1">
                    <a:alpha val="7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3947" y="5038249"/>
              <a:ext cx="20248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THINGVELLIR · 辛格维利尔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33566" y="52206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两板块裂谷 + 世界最北议会遗址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10513" y="5503545"/>
            <a:ext cx="9491319" cy="691039"/>
            <a:chOff x="1310513" y="5503545"/>
            <a:chExt cx="9491319" cy="691039"/>
          </a:xfrm>
        </p:grpSpPr>
        <p:sp>
          <p:nvSpPr>
            <p:cNvPr id="19" name="Line 19"/>
            <p:cNvSpPr/>
            <p:nvPr/>
          </p:nvSpPr>
          <p:spPr>
            <a:xfrm>
              <a:off x="1714500" y="5762625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657350" y="5705475"/>
              <a:ext cx="114300" cy="114300"/>
            </a:xfrm>
            <a:prstGeom prst="ellipse">
              <a:avLst/>
            </a:prstGeom>
            <a:solidFill>
              <a:srgbClr val="9FB0B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10513" y="597455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雷克雅未克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467350" y="57054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20513" y="597455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辛格维利尔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72350" y="570547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4822" y="5974556"/>
              <a:ext cx="489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盖歇尔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10420350" y="57054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53167" y="5974556"/>
              <a:ext cx="648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黄金瀑布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33716" y="5503545"/>
              <a:ext cx="361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START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98580" y="55035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裂谷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3000" y="55035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间歇泉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51580" y="55035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瀑布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075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 · WATER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28555" y="447199"/>
              <a:ext cx="1358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水：瀑布与冰川融水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4606671" cy="741045"/>
            <a:chOff x="594360" y="914400"/>
            <a:chExt cx="4606671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429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冰岛的瀑布，来自冰川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45990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11,000 余条瀑布，水源自冰盖——地貌与水的因果链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5334000" cy="4191000"/>
            <a:chOff x="609600" y="1809750"/>
            <a:chExt cx="5334000" cy="4191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10714" r="0" b="10715"/>
            <a:stretch>
              <a:fillRect/>
            </a:stretch>
          </p:blipFill>
          <p:spPr>
            <a:xfrm>
              <a:off x="609600" y="1809750"/>
              <a:ext cx="5334000" cy="4191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09600" y="1809750"/>
              <a:ext cx="5334000" cy="4191000"/>
            </a:xfrm>
            <a:prstGeom prst="rect">
              <a:avLst/>
            </a:prstGeom>
            <a:gradFill>
              <a:gsLst>
                <a:gs pos="0">
                  <a:schemeClr val="lt1">
                    <a:alpha val="20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147" y="5609749"/>
              <a:ext cx="1667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GULLFOSS · 黄金瀑布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5792152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两级落差 31–32 m，每秒约 10 万吨冰川融水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6010" y="1990249"/>
            <a:ext cx="5158740" cy="3394709"/>
            <a:chOff x="6176010" y="1990249"/>
            <a:chExt cx="5158740" cy="3394709"/>
          </a:xfrm>
        </p:grpSpPr>
        <p:sp>
          <p:nvSpPr>
            <p:cNvPr id="15" name="TextBox 15"/>
            <p:cNvSpPr txBox="1"/>
            <p:nvPr/>
          </p:nvSpPr>
          <p:spPr>
            <a:xfrm>
              <a:off x="6186297" y="1990249"/>
              <a:ext cx="13587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瀑布与冰川的因果链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191250" y="2190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86297" y="2466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瀑布数量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76010" y="2628900"/>
              <a:ext cx="16630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11,000+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5166" y="2744152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全国超过 11,000 条瀑布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6297" y="3228499"/>
              <a:ext cx="8336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Gullfoss 流量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76010" y="3390900"/>
              <a:ext cx="20689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10 万吨/秒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05166" y="3506152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每秒约 10 万立方米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6297" y="3990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6010" y="4152900"/>
              <a:ext cx="16418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31–32 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5166" y="4268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两级总落差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191250" y="4762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85535" y="4926806"/>
              <a:ext cx="2585974" cy="458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冰川融水汇入河流，在狭谷中被迫下切，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形成层层跌落——瀑布是冰川侵蚀的印记。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20000"/>
                </a:schemeClr>
              </a:gs>
              <a:gs pos="100000">
                <a:schemeClr val="accent3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045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 · PLATE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24313" y="447199"/>
              <a:ext cx="1663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板块：站在两块大陆之间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4010978" cy="741045"/>
            <a:chOff x="594360" y="914400"/>
            <a:chExt cx="4010978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站在两块大陆之间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4003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北美与欧亚板块，每年约以 2 cm 的速度分离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5334000" cy="4191000"/>
            <a:chOff x="609600" y="1809750"/>
            <a:chExt cx="5334000" cy="4191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10714" r="0" b="10715"/>
            <a:stretch>
              <a:fillRect/>
            </a:stretch>
          </p:blipFill>
          <p:spPr>
            <a:xfrm>
              <a:off x="609600" y="1809750"/>
              <a:ext cx="5334000" cy="4191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09600" y="1809750"/>
              <a:ext cx="5334000" cy="4191000"/>
            </a:xfrm>
            <a:prstGeom prst="rect">
              <a:avLst/>
            </a:prstGeom>
            <a:gradFill>
              <a:gsLst>
                <a:gs pos="0">
                  <a:schemeClr val="lt1">
                    <a:alpha val="20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147" y="5609749"/>
              <a:ext cx="20248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THINGVELLIR · 辛格维利尔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5792152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裂谷可步行——你正踩在两板块的分界线上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5535" y="1990249"/>
            <a:ext cx="5149215" cy="3394710"/>
            <a:chOff x="6185535" y="1990249"/>
            <a:chExt cx="5149215" cy="3394710"/>
          </a:xfrm>
        </p:grpSpPr>
        <p:sp>
          <p:nvSpPr>
            <p:cNvPr id="15" name="TextBox 15"/>
            <p:cNvSpPr txBox="1"/>
            <p:nvPr/>
          </p:nvSpPr>
          <p:spPr>
            <a:xfrm>
              <a:off x="6186297" y="1990249"/>
              <a:ext cx="902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板块运动示意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191250" y="2190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81750" y="2476500"/>
              <a:ext cx="2286000" cy="1524000"/>
            </a:xfrm>
            <a:prstGeom prst="rect">
              <a:avLst/>
            </a:prstGeom>
            <a:solidFill>
              <a:srgbClr val="1B2630"/>
            </a:solidFill>
            <a:ln w="9525">
              <a:solidFill>
                <a:srgbClr val="2C3A4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20712" y="2648902"/>
              <a:ext cx="608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北美板块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20712" y="3696652"/>
              <a:ext cx="608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欧亚板块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524750" y="2476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150000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714375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7067550" y="27146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47625"/>
                  </a:moveTo>
                  <a:lnTo>
                    <a:pt x="76200" y="0"/>
                  </a:lnTo>
                  <a:lnTo>
                    <a:pt x="762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7524750" y="3714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7905750" y="36671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7620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1349" y="4133374"/>
              <a:ext cx="926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~ 2 cm/yr 分离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191250" y="4476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85535" y="4641056"/>
              <a:ext cx="3354070" cy="458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辛格维利尔（Þingvellir）位于北美与欧亚板块之间，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是世界上最易步行穿越的板块边界。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5535" y="5164931"/>
              <a:ext cx="2567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世界最北的议会遗址（930 年立国）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075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 · COAST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76434" y="447199"/>
              <a:ext cx="1510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海岸：黑沙滩与玄武岩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5495163" cy="741045"/>
            <a:chOff x="594360" y="914400"/>
            <a:chExt cx="5495163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429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黑色海岸，六角玄武岩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5487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雷尼斯黑沙滩与雷克雅尼斯玄武岩——冰岛的海岸是火山的礼物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809750"/>
            <a:ext cx="5334000" cy="4191000"/>
            <a:chOff x="609600" y="1809750"/>
            <a:chExt cx="5334000" cy="4191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10714" r="0" b="10715"/>
            <a:stretch>
              <a:fillRect/>
            </a:stretch>
          </p:blipFill>
          <p:spPr>
            <a:xfrm>
              <a:off x="609600" y="1809750"/>
              <a:ext cx="5334000" cy="41910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09600" y="1809750"/>
              <a:ext cx="5334000" cy="4191000"/>
            </a:xfrm>
            <a:prstGeom prst="rect">
              <a:avLst/>
            </a:prstGeom>
            <a:gradFill>
              <a:gsLst>
                <a:gs pos="0">
                  <a:schemeClr val="lt1">
                    <a:alpha val="20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147" y="5609749"/>
              <a:ext cx="2220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REYNISFJARA · 雷尼斯黑沙滩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57921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玄武岩黑沙，与冰岛海岸玄武岩柱相映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85154" y="1990249"/>
            <a:ext cx="5149596" cy="3019901"/>
            <a:chOff x="6185154" y="1990249"/>
            <a:chExt cx="5149596" cy="3019901"/>
          </a:xfrm>
        </p:grpSpPr>
        <p:sp>
          <p:nvSpPr>
            <p:cNvPr id="15" name="TextBox 15"/>
            <p:cNvSpPr txBox="1"/>
            <p:nvPr/>
          </p:nvSpPr>
          <p:spPr>
            <a:xfrm>
              <a:off x="6186297" y="1990249"/>
              <a:ext cx="1054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海岸地貌与安全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191250" y="2190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85154" y="244221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雷尼斯黑沙滩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5535" y="2688431"/>
              <a:ext cx="364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海岸覆盖黑色玄武岩碎片，与冰川碎冰交织成"钻石"。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85154" y="3061335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六角玄武岩柱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5535" y="330755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雷克雅尼斯黑岩崖，冷却形成的规则六边形柱体。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5154" y="3680460"/>
              <a:ext cx="1631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致命大浪（Waves）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5535" y="392668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冬季涌浪可高达 10 m+，黑沙滩有明确警示标志与巡逻。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191250" y="4333875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91250" y="4476750"/>
              <a:ext cx="5143500" cy="533400"/>
            </a:xfrm>
            <a:prstGeom prst="roundRect">
              <a:avLst>
                <a:gd name="adj" fmla="val 7143"/>
              </a:avLst>
            </a:prstGeom>
            <a:solidFill>
              <a:srgbClr val="1B2630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6985" y="4593431"/>
              <a:ext cx="648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安全提示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7366" y="48015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仅沿岸行走，绝不进入水中；留意旗帜与巡逻人员指示。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2000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675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· GEOTHERMAL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3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76434" y="447199"/>
              <a:ext cx="1510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地热：冰岛的能源心脏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4576382" cy="741045"/>
            <a:chOff x="594360" y="914400"/>
            <a:chExt cx="4576382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429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整座岛，都在地热之上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4568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超过 90% 的建筑用地热供暖——人地关系的冰岛样本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647" y="1990249"/>
            <a:ext cx="5110353" cy="3915251"/>
            <a:chOff x="604647" y="1990249"/>
            <a:chExt cx="5110353" cy="3915251"/>
          </a:xfrm>
        </p:grpSpPr>
        <p:sp>
          <p:nvSpPr>
            <p:cNvPr id="10" name="TextBox 10"/>
            <p:cNvSpPr txBox="1"/>
            <p:nvPr/>
          </p:nvSpPr>
          <p:spPr>
            <a:xfrm>
              <a:off x="604647" y="1990249"/>
              <a:ext cx="902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地热剖面示意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19075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4572000" cy="1143000"/>
            </a:xfrm>
            <a:prstGeom prst="rect">
              <a:avLst/>
            </a:prstGeom>
            <a:solidFill>
              <a:srgbClr val="1B2630"/>
            </a:solidFill>
            <a:ln w="9525">
              <a:solidFill>
                <a:srgbClr val="2C3A4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4191000"/>
              <a:ext cx="4572000" cy="1143000"/>
            </a:xfrm>
            <a:prstGeom prst="rect">
              <a:avLst/>
            </a:prstGeom>
            <a:solidFill>
              <a:srgbClr val="2C3A44"/>
            </a:solidFill>
            <a:ln w="9525">
              <a:solidFill>
                <a:srgbClr val="2C3A4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5334000"/>
              <a:ext cx="4572000" cy="5715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 w="9525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2488" y="3236595"/>
              <a:ext cx="875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地表 / 城市建筑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488" y="43795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中深层岩层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297" y="5466874"/>
              <a:ext cx="8752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岩浆房 · 热源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0" y="3048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33800" y="55435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3810000" y="304800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2571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accent3">
                  <a:alpha val="70000"/>
                </a:schemeClr>
              </a:solidFill>
              <a:prstDash val="dash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428750" y="2857500"/>
              <a:ext cx="381000" cy="190500"/>
            </a:xfrm>
            <a:prstGeom prst="rect">
              <a:avLst/>
            </a:prstGeom>
            <a:solidFill>
              <a:srgbClr val="1B263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2809875"/>
              <a:ext cx="476250" cy="238125"/>
            </a:xfrm>
            <a:prstGeom prst="rect">
              <a:avLst/>
            </a:prstGeom>
            <a:solidFill>
              <a:srgbClr val="1B263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76500" y="2905125"/>
              <a:ext cx="333375" cy="142875"/>
            </a:xfrm>
            <a:prstGeom prst="rect">
              <a:avLst/>
            </a:prstGeom>
            <a:solidFill>
              <a:srgbClr val="1B263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14488" y="2673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43112" y="26255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76010" y="1990249"/>
            <a:ext cx="5158740" cy="3394709"/>
            <a:chOff x="6176010" y="1990249"/>
            <a:chExt cx="5158740" cy="3394709"/>
          </a:xfrm>
        </p:grpSpPr>
        <p:sp>
          <p:nvSpPr>
            <p:cNvPr id="27" name="TextBox 27"/>
            <p:cNvSpPr txBox="1"/>
            <p:nvPr/>
          </p:nvSpPr>
          <p:spPr>
            <a:xfrm>
              <a:off x="6186297" y="1990249"/>
              <a:ext cx="598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关键数据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191250" y="2190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86297" y="2466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建筑供暖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76010" y="26289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90%+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4166" y="27441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全国建筑用地热供暖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6297" y="32284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可再生能源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76010" y="33909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100%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4166" y="350615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全国电力 100% 可再生（地热+水电）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86297" y="3990499"/>
              <a:ext cx="10572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蓝湖 Blue Lagoon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76010" y="4152900"/>
              <a:ext cx="10906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1 999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4166" y="4268152"/>
              <a:ext cx="2201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1999 年开业，世界地标地热度假村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191250" y="4762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85535" y="4926806"/>
              <a:ext cx="2998470" cy="458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冰岛的能源逻辑：直接用地球热量供暖、发电，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几乎不需要化石燃料——这是人地关系的范本。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8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3" name="TextBox 3"/>
            <p:cNvSpPr txBox="1"/>
            <p:nvPr/>
          </p:nvSpPr>
          <p:spPr>
            <a:xfrm>
              <a:off x="604266" y="439102"/>
              <a:ext cx="1427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 · ITINERARY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84916" y="447199"/>
              <a:ext cx="902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七日环岛建议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914400"/>
            <a:ext cx="4384091" cy="741045"/>
            <a:chOff x="594360" y="914400"/>
            <a:chExt cx="4384091" cy="741045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914400"/>
              <a:ext cx="438409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1,322 公里的环岛环线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1362075"/>
              <a:ext cx="4018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号公路 Ring Road · 夏季 7–10 天走完全程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0150" y="2206625"/>
            <a:ext cx="3009900" cy="2403951"/>
            <a:chOff x="1200150" y="2206625"/>
            <a:chExt cx="3009900" cy="2403951"/>
          </a:xfrm>
        </p:grpSpPr>
        <p:sp>
          <p:nvSpPr>
            <p:cNvPr id="10" name="Freeform 10"/>
            <p:cNvSpPr/>
            <p:nvPr/>
          </p:nvSpPr>
          <p:spPr>
            <a:xfrm>
              <a:off x="1200150" y="2206625"/>
              <a:ext cx="2784475" cy="2111375"/>
            </a:xfrm>
            <a:custGeom>
              <a:avLst/>
              <a:gdLst/>
              <a:ahLst/>
              <a:cxnLst/>
              <a:rect l="l" t="t" r="r" b="b"/>
              <a:pathLst>
                <a:path w="2784475" h="2111375">
                  <a:moveTo>
                    <a:pt x="133350" y="365125"/>
                  </a:moveTo>
                  <a:cubicBezTo>
                    <a:pt x="260350" y="174625"/>
                    <a:pt x="482600" y="63500"/>
                    <a:pt x="800100" y="31750"/>
                  </a:cubicBezTo>
                  <a:cubicBezTo>
                    <a:pt x="1117600" y="0"/>
                    <a:pt x="1435100" y="15875"/>
                    <a:pt x="1752600" y="79375"/>
                  </a:cubicBezTo>
                  <a:cubicBezTo>
                    <a:pt x="2006600" y="130175"/>
                    <a:pt x="2228850" y="209550"/>
                    <a:pt x="2419350" y="317500"/>
                  </a:cubicBezTo>
                  <a:cubicBezTo>
                    <a:pt x="2546350" y="412750"/>
                    <a:pt x="2641600" y="555625"/>
                    <a:pt x="2705100" y="746125"/>
                  </a:cubicBezTo>
                  <a:cubicBezTo>
                    <a:pt x="2768600" y="936625"/>
                    <a:pt x="2784475" y="1127125"/>
                    <a:pt x="2752725" y="1317625"/>
                  </a:cubicBezTo>
                  <a:cubicBezTo>
                    <a:pt x="2720975" y="1508125"/>
                    <a:pt x="2641600" y="1666875"/>
                    <a:pt x="2514600" y="1793875"/>
                  </a:cubicBezTo>
                  <a:cubicBezTo>
                    <a:pt x="2387600" y="1908175"/>
                    <a:pt x="2228850" y="1987550"/>
                    <a:pt x="2038350" y="2032000"/>
                  </a:cubicBezTo>
                  <a:cubicBezTo>
                    <a:pt x="1784350" y="2095500"/>
                    <a:pt x="1530350" y="2111375"/>
                    <a:pt x="1276350" y="2079625"/>
                  </a:cubicBezTo>
                  <a:cubicBezTo>
                    <a:pt x="1022350" y="2047875"/>
                    <a:pt x="800100" y="1984375"/>
                    <a:pt x="609600" y="1889125"/>
                  </a:cubicBezTo>
                  <a:cubicBezTo>
                    <a:pt x="419100" y="1793875"/>
                    <a:pt x="276225" y="1666875"/>
                    <a:pt x="180975" y="1508125"/>
                  </a:cubicBezTo>
                  <a:cubicBezTo>
                    <a:pt x="85725" y="1349375"/>
                    <a:pt x="31750" y="1158875"/>
                    <a:pt x="19050" y="936625"/>
                  </a:cubicBezTo>
                  <a:cubicBezTo>
                    <a:pt x="0" y="746125"/>
                    <a:pt x="22225" y="587375"/>
                    <a:pt x="85725" y="460375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rgbClr val="2C3A4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7000" y="2540000"/>
              <a:ext cx="2384425" cy="1758950"/>
            </a:xfrm>
            <a:custGeom>
              <a:avLst/>
              <a:gdLst/>
              <a:ahLst/>
              <a:cxnLst/>
              <a:rect l="l" t="t" r="r" b="b"/>
              <a:pathLst>
                <a:path w="2384425" h="1758950">
                  <a:moveTo>
                    <a:pt x="222250" y="317500"/>
                  </a:moveTo>
                  <a:cubicBezTo>
                    <a:pt x="349250" y="158750"/>
                    <a:pt x="571500" y="63500"/>
                    <a:pt x="889000" y="31750"/>
                  </a:cubicBezTo>
                  <a:cubicBezTo>
                    <a:pt x="1206500" y="0"/>
                    <a:pt x="1508125" y="15875"/>
                    <a:pt x="1793875" y="79375"/>
                  </a:cubicBezTo>
                  <a:cubicBezTo>
                    <a:pt x="2016125" y="142875"/>
                    <a:pt x="2174875" y="254000"/>
                    <a:pt x="2270125" y="412750"/>
                  </a:cubicBezTo>
                  <a:cubicBezTo>
                    <a:pt x="2352675" y="571500"/>
                    <a:pt x="2384425" y="762000"/>
                    <a:pt x="2365375" y="984250"/>
                  </a:cubicBezTo>
                  <a:cubicBezTo>
                    <a:pt x="2346325" y="1206500"/>
                    <a:pt x="2266950" y="1381125"/>
                    <a:pt x="2127250" y="1508125"/>
                  </a:cubicBezTo>
                  <a:cubicBezTo>
                    <a:pt x="1968500" y="1616075"/>
                    <a:pt x="1762125" y="1689100"/>
                    <a:pt x="1508125" y="1727200"/>
                  </a:cubicBezTo>
                  <a:cubicBezTo>
                    <a:pt x="1254125" y="1758950"/>
                    <a:pt x="1000125" y="1749425"/>
                    <a:pt x="746125" y="1698625"/>
                  </a:cubicBezTo>
                  <a:cubicBezTo>
                    <a:pt x="523875" y="1635125"/>
                    <a:pt x="355600" y="1539875"/>
                    <a:pt x="241300" y="1412875"/>
                  </a:cubicBezTo>
                  <a:cubicBezTo>
                    <a:pt x="133350" y="1285875"/>
                    <a:pt x="63500" y="1127125"/>
                    <a:pt x="31750" y="936625"/>
                  </a:cubicBezTo>
                  <a:cubicBezTo>
                    <a:pt x="0" y="746125"/>
                    <a:pt x="15875" y="587375"/>
                    <a:pt x="79375" y="460375"/>
                  </a:cubicBezTo>
                  <a:cubicBezTo>
                    <a:pt x="123825" y="377825"/>
                    <a:pt x="171450" y="330200"/>
                    <a:pt x="222250" y="317500"/>
                  </a:cubicBezTo>
                  <a:close/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190750" y="25527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47625" y="0"/>
                  </a:moveTo>
                  <a:lnTo>
                    <a:pt x="95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3648075" y="3067050"/>
              <a:ext cx="85725" cy="57150"/>
            </a:xfrm>
            <a:custGeom>
              <a:avLst/>
              <a:gdLst/>
              <a:ahLst/>
              <a:cxnLst/>
              <a:rect l="l" t="t" r="r" b="b"/>
              <a:pathLst>
                <a:path w="85725" h="57150">
                  <a:moveTo>
                    <a:pt x="0" y="57150"/>
                  </a:moveTo>
                  <a:lnTo>
                    <a:pt x="85725" y="571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3429000" y="4191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19050"/>
                  </a:move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2143125" y="42100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76200"/>
                  </a:moveTo>
                  <a:lnTo>
                    <a:pt x="0" y="0"/>
                  </a:lnTo>
                  <a:lnTo>
                    <a:pt x="95250" y="381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371600" y="33718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38288" y="3309938"/>
              <a:ext cx="4616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Reykjavik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8288" y="3451384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雷克雅未克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152775" y="267652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62238" y="2594134"/>
              <a:ext cx="39211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Akureyri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29025" y="34385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19488" y="3594259"/>
              <a:ext cx="16341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Vík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438400" y="4248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33612" y="4384834"/>
              <a:ext cx="34174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Selfoss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981450" y="4220051"/>
              <a:ext cx="228600" cy="323374"/>
              <a:chOff x="3981450" y="4220051"/>
              <a:chExt cx="228600" cy="323374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3981450" y="4314825"/>
                <a:ext cx="228600" cy="228600"/>
              </a:xfrm>
              <a:prstGeom prst="ellipse">
                <a:avLst/>
              </a:prstGeom>
              <a:noFill/>
              <a:ln w="7620">
                <a:solidFill>
                  <a:srgbClr val="9FB0BC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4095750" y="43148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4288">
                <a:solidFill>
                  <a:schemeClr val="dk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070647" y="4220051"/>
                <a:ext cx="50206" cy="10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1238250" y="4429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238250" y="44005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00250" y="44005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9FB0B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00734" y="4505801"/>
              <a:ext cx="237033" cy="10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 km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137785" y="1990249"/>
            <a:ext cx="6216015" cy="3054762"/>
            <a:chOff x="5137785" y="1990249"/>
            <a:chExt cx="6216015" cy="3054762"/>
          </a:xfrm>
        </p:grpSpPr>
        <p:sp>
          <p:nvSpPr>
            <p:cNvPr id="34" name="TextBox 34"/>
            <p:cNvSpPr txBox="1"/>
            <p:nvPr/>
          </p:nvSpPr>
          <p:spPr>
            <a:xfrm>
              <a:off x="5138547" y="1990249"/>
              <a:ext cx="1266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七日动线 · 顺时针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143500" y="2190750"/>
              <a:ext cx="6210300" cy="9525"/>
            </a:xfrm>
            <a:custGeom>
              <a:avLst/>
              <a:gdLst/>
              <a:ahLst/>
              <a:cxnLst/>
              <a:rect l="l" t="t" r="r" b="b"/>
              <a:pathLst>
                <a:path w="6210300" h="9525">
                  <a:moveTo>
                    <a:pt x="0" y="0"/>
                  </a:moveTo>
                  <a:lnTo>
                    <a:pt x="6210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137785" y="23741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42585" y="2374106"/>
              <a:ext cx="226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雷克雅未克 · 市区与自然博物馆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37785" y="26598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42585" y="2659856"/>
              <a:ext cx="2926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金环日：辛格维利尔 → 盖歇尔 → 黄金瀑布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37785" y="29456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42585" y="2945606"/>
              <a:ext cx="27888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自东向南：Selfoss → Gullfoss 观景台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37785" y="32313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42585" y="3231356"/>
              <a:ext cx="277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南岸：Reynisfjara 黑沙滩 + 玄武岩柱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37785" y="35171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42585" y="3517106"/>
              <a:ext cx="2785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Vík 小镇 · 钻石黑沙滩 · 雷克雅尼斯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37785" y="380285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42585" y="3802856"/>
              <a:ext cx="2902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瓦特纳冰盖：冰河湖 + 冰川徒步（可选）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137785" y="408860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42585" y="4088606"/>
              <a:ext cx="2959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北岸：Jökulsárlón → Egilsstaðir → 返程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143500" y="4476750"/>
              <a:ext cx="6210300" cy="9525"/>
            </a:xfrm>
            <a:custGeom>
              <a:avLst/>
              <a:gdLst/>
              <a:ahLst/>
              <a:cxnLst/>
              <a:rect l="l" t="t" r="r" b="b"/>
              <a:pathLst>
                <a:path w="6210300" h="9525">
                  <a:moveTo>
                    <a:pt x="0" y="0"/>
                  </a:moveTo>
                  <a:lnTo>
                    <a:pt x="6210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38166" y="4630102"/>
              <a:ext cx="385781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冬季（11–2 月）：道路封闭风险高，建议 10–14 天或分段出行，</a:t>
              </a:r>
              <a:br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务必查看 road.is 路况，勿在无导航路段驾车。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55000"/>
                </a:schemeClr>
              </a:gs>
              <a:gs pos="45000">
                <a:schemeClr val="lt1">
                  <a:alpha val="15000"/>
                </a:schemeClr>
              </a:gs>
              <a:gs pos="100000">
                <a:schemeClr val="lt1">
                  <a:alpha val="85000"/>
                </a:scheme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70000"/>
                </a:schemeClr>
              </a:gs>
              <a:gs pos="60000">
                <a:schemeClr val="lt1">
                  <a:alpha val="10000"/>
                </a:schemeClr>
              </a:gs>
              <a:gs pos="100000">
                <a:schemeClr val="lt1">
                  <a:alpha val="3000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22000"/>
                </a:schemeClr>
              </a:gs>
              <a:gs pos="100000">
                <a:schemeClr val="accent2">
                  <a:alpha val="0"/>
                </a:schemeClr>
              </a:gs>
            </a:gsLst>
            <a:path path="circle">
              <a:fillToRect l="50000" t="35000" r="50000" b="65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-762000" y="1587500"/>
            <a:ext cx="13716000" cy="2413000"/>
            <a:chOff x="-762000" y="1587500"/>
            <a:chExt cx="13716000" cy="2413000"/>
          </a:xfrm>
        </p:grpSpPr>
        <p:sp>
          <p:nvSpPr>
            <p:cNvPr id="6" name="Freeform 6"/>
            <p:cNvSpPr/>
            <p:nvPr/>
          </p:nvSpPr>
          <p:spPr>
            <a:xfrm>
              <a:off x="-762000" y="1587500"/>
              <a:ext cx="13716000" cy="2032000"/>
            </a:xfrm>
            <a:custGeom>
              <a:avLst/>
              <a:gdLst/>
              <a:ahLst/>
              <a:cxnLst/>
              <a:rect l="l" t="t" r="r" b="b"/>
              <a:pathLst>
                <a:path w="13716000" h="2032000">
                  <a:moveTo>
                    <a:pt x="0" y="2032000"/>
                  </a:moveTo>
                  <a:cubicBezTo>
                    <a:pt x="4572000" y="0"/>
                    <a:pt x="9144000" y="0"/>
                    <a:pt x="13716000" y="2032000"/>
                  </a:cubicBezTo>
                </a:path>
              </a:pathLst>
            </a:custGeom>
            <a:noFill/>
            <a:ln w="1143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-762000" y="2095500"/>
              <a:ext cx="13716000" cy="1905000"/>
            </a:xfrm>
            <a:custGeom>
              <a:avLst/>
              <a:gdLst/>
              <a:ahLst/>
              <a:cxnLst/>
              <a:rect l="l" t="t" r="r" b="b"/>
              <a:pathLst>
                <a:path w="13716000" h="1905000">
                  <a:moveTo>
                    <a:pt x="0" y="1905000"/>
                  </a:moveTo>
                  <a:cubicBezTo>
                    <a:pt x="4572000" y="0"/>
                    <a:pt x="9144000" y="0"/>
                    <a:pt x="13716000" y="1905000"/>
                  </a:cubicBezTo>
                </a:path>
              </a:pathLst>
            </a:custGeom>
            <a:noFill/>
            <a:ln w="7620">
              <a:solidFill>
                <a:schemeClr val="accent2">
                  <a:alpha val="28000"/>
                </a:scheme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4266" y="439102"/>
            <a:ext cx="10983087" cy="237173"/>
            <a:chOff x="604266" y="439102"/>
            <a:chExt cx="10983087" cy="237173"/>
          </a:xfrm>
        </p:grpSpPr>
        <p:sp>
          <p:nvSpPr>
            <p:cNvPr id="9" name="TextBox 9"/>
            <p:cNvSpPr txBox="1"/>
            <p:nvPr/>
          </p:nvSpPr>
          <p:spPr>
            <a:xfrm>
              <a:off x="604266" y="439102"/>
              <a:ext cx="1075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· CLOSE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666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89158" y="447199"/>
              <a:ext cx="5981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光的承诺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2251710"/>
            <a:ext cx="5181600" cy="2655379"/>
            <a:chOff x="590550" y="2251710"/>
            <a:chExt cx="5181600" cy="2655379"/>
          </a:xfrm>
        </p:grpSpPr>
        <p:sp>
          <p:nvSpPr>
            <p:cNvPr id="13" name="TextBox 13"/>
            <p:cNvSpPr txBox="1"/>
            <p:nvPr/>
          </p:nvSpPr>
          <p:spPr>
            <a:xfrm>
              <a:off x="603504" y="2251710"/>
              <a:ext cx="2098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4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CLOSING NOTE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2657475"/>
              <a:ext cx="5181600" cy="1543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光不问你何时到来</a:t>
              </a:r>
              <a:br/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但地貌记得每一场光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409575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218" y="4298632"/>
              <a:ext cx="318096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冰岛以纬度换光、以火山换地貌——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光定义季节，地貌定义行程。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238750"/>
            <a:ext cx="10972800" cy="1047750"/>
            <a:chOff x="609600" y="5238750"/>
            <a:chExt cx="10972800" cy="1047750"/>
          </a:xfrm>
        </p:grpSpPr>
        <p:sp>
          <p:nvSpPr>
            <p:cNvPr id="18" name="Rectangle 18"/>
            <p:cNvSpPr/>
            <p:nvPr/>
          </p:nvSpPr>
          <p:spPr>
            <a:xfrm>
              <a:off x="609600" y="5238750"/>
              <a:ext cx="10972800" cy="1047750"/>
            </a:xfrm>
            <a:prstGeom prst="roundRect">
              <a:avLst>
                <a:gd name="adj" fmla="val 3636"/>
              </a:avLst>
            </a:prstGeom>
            <a:solidFill>
              <a:schemeClr val="lt1">
                <a:alpha val="55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34290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484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067800" y="53530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9447" y="5466874"/>
              <a:ext cx="7099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最佳出行季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6018" y="5727382"/>
              <a:ext cx="1188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 月 – 9 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638" y="6017895"/>
              <a:ext cx="1378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极昼 · 日照长 · 路况最稳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8847" y="5466874"/>
              <a:ext cx="425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极光季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25418" y="5727382"/>
              <a:ext cx="1324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11 月 – 3 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29038" y="6017895"/>
              <a:ext cx="14815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云量少时观测成功率约 80%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82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4818" y="5727382"/>
              <a:ext cx="1212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查 road.is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8438" y="60178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出发前查路况与天气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67647" y="5466874"/>
              <a:ext cx="283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64218" y="5727382"/>
              <a:ext cx="955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地理杂志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67838" y="601789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光与地貌的旅行 · 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589395"/>
            <a:ext cx="10982324" cy="176212"/>
            <a:chOff x="604838" y="6589395"/>
            <a:chExt cx="10982324" cy="176212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589395"/>
              <a:ext cx="20873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冰岛：光与地貌的旅行 · 地理杂志专题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71758" y="65893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A6B78"/>
                  </a:solidFill>
                  <a:latin typeface="+mn-lt"/>
                  <a:ea typeface="+mn-ea"/>
                  <a:cs typeface="+mn-cs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celand-light-terrain">
  <a:themeElements>
    <a:clrScheme name="iceland-light-terrain">
      <a:dk1>
        <a:srgbClr val="E8EEF2"/>
      </a:dk1>
      <a:lt1>
        <a:srgbClr val="0B0F12"/>
      </a:lt1>
      <a:dk2>
        <a:srgbClr val="1F497D"/>
      </a:dk2>
      <a:lt2>
        <a:srgbClr val="14202A"/>
      </a:lt2>
      <a:accent1>
        <a:srgbClr val="3FA9D6"/>
      </a:accent1>
      <a:accent2>
        <a:srgbClr val="4FD19E"/>
      </a:accent2>
      <a:accent3>
        <a:srgbClr val="E8873A"/>
      </a:accent3>
      <a:accent4>
        <a:srgbClr val="3FA9D6"/>
      </a:accent4>
      <a:accent5>
        <a:srgbClr val="9FB0BC"/>
      </a:accent5>
      <a:accent6>
        <a:srgbClr val="23303A"/>
      </a:accent6>
      <a:hlink>
        <a:srgbClr val="4FD19E"/>
      </a:hlink>
      <a:folHlink>
        <a:srgbClr val="E8873A"/>
      </a:folHlink>
    </a:clrScheme>
    <a:fontScheme name="iceland-light-terrain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celand-light-terra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2026-10-29T08:43:38Z</dcterms:created>
  <dcterms:modified xsi:type="dcterms:W3CDTF">2026-10-29T08:43:38Z</dcterms:modified>
  <cp:category/>
  <cp:contentStatus/>
</cp:coreProperties>
</file>